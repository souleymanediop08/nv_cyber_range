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7A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3840480"/>
            <a:ext cx="4937760" cy="4937760"/>
          </a:xfrm>
          <a:prstGeom prst="ellipse">
            <a:avLst/>
          </a:prstGeom>
          <a:solidFill>
            <a:srgbClr val="57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9C52"/>
                </a:solidFill>
                <a:latin typeface="Calibri"/>
              </a:rPr>
              <a:t>CYBER RANGE INDUSTRIEL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Calibri"/>
              </a:rPr>
              <a:t>Talixman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E8D8DF"/>
                </a:solidFill>
                <a:latin typeface="Calibri"/>
              </a:rPr>
              <a:t>Entraînez vos équipes sur une réplique de vos installations</a:t>
            </a:r>
          </a:p>
          <a:p>
            <a:pPr algn="l">
              <a:lnSpc>
                <a:spcPct val="130000"/>
              </a:lnSpc>
            </a:pPr>
            <a:r>
              <a:rPr sz="2100" b="0">
                <a:solidFill>
                  <a:srgbClr val="E8D8DF"/>
                </a:solidFill>
                <a:latin typeface="Calibri"/>
              </a:rPr>
              <a:t>critiques, sans jamais toucher à votre 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526280"/>
            <a:ext cx="2011680" cy="50800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9B2BD"/>
                </a:solidFill>
                <a:latin typeface="Calibri"/>
              </a:rPr>
              <a:t>Architecture fonctionnelle — comment la plateforme fonctionne, et comment vous l'utilisez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LE BESOIN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1B1F"/>
                </a:solidFill>
                <a:latin typeface="Calibri"/>
              </a:rPr>
              <a:t>Former sans risquer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Aucune équipe d'exploitation ne peut s'entraîner à gérer une cyberattaque sur l'installation réelle.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50800" cy="777240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B1F"/>
                </a:solidFill>
                <a:latin typeface="Calibri"/>
              </a:rPr>
              <a:t>Impossible de s'exercer en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Provoquer un incident pour voir ce qui se passe n'est pas une option.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429000"/>
            <a:ext cx="50800" cy="777240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B1F"/>
                </a:solidFill>
                <a:latin typeface="Calibri"/>
              </a:rPr>
              <a:t>Les attaques sont rares… jusqu'au jour 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On ne peut pas attendre l'incident réel pour découvrir les bons réflexes.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754880"/>
            <a:ext cx="50800" cy="777240"/>
          </a:xfrm>
          <a:prstGeom prst="rect">
            <a:avLst/>
          </a:prstGeom>
          <a:solidFill>
            <a:srgbClr val="BF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B1F"/>
                </a:solidFill>
                <a:latin typeface="Calibri"/>
              </a:rPr>
              <a:t>Une salle de formation ne suffit pas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0235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Comprendre une attaque en diaporama ne prépare pas à la vivre.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920240"/>
            <a:ext cx="5029200" cy="3703320"/>
          </a:xfrm>
          <a:prstGeom prst="roundRect">
            <a:avLst>
              <a:gd name="adj" fmla="val 5000"/>
            </a:avLst>
          </a:prstGeom>
          <a:solidFill>
            <a:srgbClr val="2C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24028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9C52"/>
                </a:solidFill>
                <a:latin typeface="Calibri"/>
              </a:rPr>
              <a:t>NOTRE RÉPONSE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51760"/>
            <a:ext cx="4389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Une réplique fidèle de votre</a:t>
            </a:r>
          </a:p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métier, à vous seul,</a:t>
            </a:r>
          </a:p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disponible en quelques minutes.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977639"/>
            <a:ext cx="4389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CFBAC4"/>
                </a:solidFill>
                <a:latin typeface="Calibri"/>
              </a:rPr>
              <a:t>Vos équipes y exploitent l'installation, y observent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CFBAC4"/>
                </a:solidFill>
                <a:latin typeface="Calibri"/>
              </a:rPr>
              <a:t>une attaque et y réagissent — en conditions réelles.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CFBAC4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CFBAC4"/>
                </a:solidFill>
                <a:latin typeface="Calibri"/>
              </a:rPr>
              <a:t>Tout ce qui s'y passe reste dans cet environnement.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UNE PLATEFORME, PLUSIEURS MÉTIERS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1B1F"/>
                </a:solidFill>
                <a:latin typeface="Calibri"/>
              </a:rPr>
              <a:t>Les univers de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La plateforme est indépendante du secteur : chaque univers est une réplique de son métier.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611880" cy="3794760"/>
          </a:xfrm>
          <a:prstGeom prst="roundRect">
            <a:avLst>
              <a:gd name="adj" fmla="val 5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611880" cy="914400"/>
          </a:xfrm>
          <a:prstGeom prst="roundRect">
            <a:avLst>
              <a:gd name="adj" fmla="val 19000"/>
            </a:avLst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Dispatching électrique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6771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F0E4EA"/>
                </a:solidFill>
                <a:latin typeface="Calibri"/>
              </a:rPr>
              <a:t>Postes sources, centre de conduite,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F0E4EA"/>
                </a:solidFill>
                <a:latin typeface="Calibri"/>
              </a:rPr>
              <a:t>réseau de transport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•  Automates de poste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101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•  Supervision locale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9417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•  Centre de conduite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782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•  Vue 3D de poste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783080"/>
            <a:ext cx="3611880" cy="3794760"/>
          </a:xfrm>
          <a:prstGeom prst="roundRect">
            <a:avLst>
              <a:gd name="adj" fmla="val 5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71416" y="1783080"/>
            <a:ext cx="3611880" cy="914400"/>
          </a:xfrm>
          <a:prstGeom prst="roundRect">
            <a:avLst>
              <a:gd name="adj" fmla="val 19000"/>
            </a:avLst>
          </a:prstGeom>
          <a:solidFill>
            <a:srgbClr val="1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193852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Système ferroviaire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226771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F0E4EA"/>
                </a:solidFill>
                <a:latin typeface="Calibri"/>
              </a:rPr>
              <a:t>Signalisation, aiguillages,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F0E4EA"/>
                </a:solidFill>
                <a:latin typeface="Calibri"/>
              </a:rPr>
              <a:t>poste de commande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6" y="2926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•  Automates de voie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33101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•  Supervision de ligne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1456" y="369417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•  Poste de commande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6" y="40782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•  Vue 3D de zone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1783080"/>
            <a:ext cx="3611880" cy="3794760"/>
          </a:xfrm>
          <a:prstGeom prst="roundRect">
            <a:avLst>
              <a:gd name="adj" fmla="val 5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02752" y="1783080"/>
            <a:ext cx="3611880" cy="914400"/>
          </a:xfrm>
          <a:prstGeom prst="roundRect">
            <a:avLst>
              <a:gd name="adj" fmla="val 19000"/>
            </a:avLst>
          </a:prstGeom>
          <a:solidFill>
            <a:srgbClr val="7A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193852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Raffinerie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226771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F0E4EA"/>
                </a:solidFill>
                <a:latin typeface="Calibri"/>
              </a:rPr>
              <a:t>Unités de procédé, salle de</a:t>
            </a:r>
          </a:p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F0E4EA"/>
                </a:solidFill>
                <a:latin typeface="Calibri"/>
              </a:rPr>
              <a:t>contrôle, sécurité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22792" y="2926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•  Automates de procédé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33101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•  Supervision d'unité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2792" y="369417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•  Salle de contrôle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2792" y="40782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•  Vue 3D d'unité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8E5A"/>
                </a:solidFill>
                <a:latin typeface="Calibri"/>
              </a:rPr>
              <a:t>Un même portail, un même mode d'emploi : ce qui change, c'est le contenu de la simulation.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ARCHITECTURE FONCTIONNELLE 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1B1F"/>
                </a:solidFill>
                <a:latin typeface="Calibri"/>
              </a:rPr>
              <a:t>Comment s'organise la plateforme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Trois niveaux, un seul point d'entrée.</a:t>
            </a:r>
          </a:p>
        </p:txBody>
      </p:sp>
      <p:pic>
        <p:nvPicPr>
          <p:cNvPr id="7" name="Picture 6" descr="Vue_gener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3945642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42922" y="1764792"/>
            <a:ext cx="65086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B1B1F"/>
                </a:solidFill>
                <a:latin typeface="Calibri"/>
              </a:rPr>
              <a:t>Ce que montre ce schéma</a:t>
            </a:r>
          </a:p>
        </p:txBody>
      </p:sp>
      <p:sp>
        <p:nvSpPr>
          <p:cNvPr id="9" name="Oval 8"/>
          <p:cNvSpPr/>
          <p:nvPr/>
        </p:nvSpPr>
        <p:spPr>
          <a:xfrm>
            <a:off x="5042922" y="2743200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17242" y="2679192"/>
            <a:ext cx="623437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Aucun accès à une simulation n'est possible sans passer par le portail — il n'existe aucun contournement.</a:t>
            </a:r>
          </a:p>
        </p:txBody>
      </p:sp>
      <p:sp>
        <p:nvSpPr>
          <p:cNvPr id="11" name="Oval 10"/>
          <p:cNvSpPr/>
          <p:nvPr/>
        </p:nvSpPr>
        <p:spPr>
          <a:xfrm>
            <a:off x="5042922" y="3584448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7242" y="3520440"/>
            <a:ext cx="623437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Chaque client dispose de son propre environnement, séparé de celui des autres.</a:t>
            </a:r>
          </a:p>
        </p:txBody>
      </p:sp>
      <p:sp>
        <p:nvSpPr>
          <p:cNvPr id="13" name="Oval 12"/>
          <p:cNvSpPr/>
          <p:nvPr/>
        </p:nvSpPr>
        <p:spPr>
          <a:xfrm>
            <a:off x="5042922" y="4425696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7242" y="4361688"/>
            <a:ext cx="623437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Les composants offensifs ne sont ajoutés que pour les scénarios qui les demandent.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2922" y="5623560"/>
            <a:ext cx="6508693" cy="86868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42922" y="5762548"/>
            <a:ext cx="50800" cy="59070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2378" y="5824728"/>
            <a:ext cx="6069781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Vos équipes n'ont besoin que d'un navigateur : il n'y a rien à installer.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ARCHITECTURE FONCTIONNELLE 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1B1F"/>
                </a:solidFill>
                <a:latin typeface="Calibri"/>
              </a:rPr>
              <a:t>Les quatre phases d'utilisation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Qui fait quoi, et à quel moment.</a:t>
            </a:r>
          </a:p>
        </p:txBody>
      </p:sp>
      <p:pic>
        <p:nvPicPr>
          <p:cNvPr id="7" name="Picture 6" descr="parcours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4640613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37893" y="1764792"/>
            <a:ext cx="581372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B1B1F"/>
                </a:solidFill>
                <a:latin typeface="Calibri"/>
              </a:rPr>
              <a:t>Ce que montre ce schéma</a:t>
            </a:r>
          </a:p>
        </p:txBody>
      </p:sp>
      <p:sp>
        <p:nvSpPr>
          <p:cNvPr id="9" name="Oval 8"/>
          <p:cNvSpPr/>
          <p:nvPr/>
        </p:nvSpPr>
        <p:spPr>
          <a:xfrm>
            <a:off x="5737893" y="2743200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2213" y="2679192"/>
            <a:ext cx="553940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La mise en place n'a lieu qu'une seule fois, à l'ouverture de votre compte.</a:t>
            </a:r>
          </a:p>
        </p:txBody>
      </p:sp>
      <p:sp>
        <p:nvSpPr>
          <p:cNvPr id="11" name="Oval 10"/>
          <p:cNvSpPr/>
          <p:nvPr/>
        </p:nvSpPr>
        <p:spPr>
          <a:xfrm>
            <a:off x="5737893" y="3584448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2213" y="3520440"/>
            <a:ext cx="553940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Ensuite, vous êtes autonome : votre référent gère les accès de ses équipes sans nous solliciter.</a:t>
            </a:r>
          </a:p>
        </p:txBody>
      </p:sp>
      <p:sp>
        <p:nvSpPr>
          <p:cNvPr id="13" name="Oval 12"/>
          <p:cNvSpPr/>
          <p:nvPr/>
        </p:nvSpPr>
        <p:spPr>
          <a:xfrm>
            <a:off x="5737893" y="4425696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2213" y="4361688"/>
            <a:ext cx="553940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Entre deux sessions, plus rien ne tourne — la libération est automatique.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ARCHITECTURE FONCTIONNELLE 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1B1F"/>
                </a:solidFill>
                <a:latin typeface="Calibri"/>
              </a:rPr>
              <a:t>Ce que contient un environnement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La même structure en trois zones, quel que soit le métier simulé.</a:t>
            </a:r>
          </a:p>
        </p:txBody>
      </p:sp>
      <p:pic>
        <p:nvPicPr>
          <p:cNvPr id="7" name="Picture 6" descr="composition_environn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4567825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5105" y="1764792"/>
            <a:ext cx="58865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B1B1F"/>
                </a:solidFill>
                <a:latin typeface="Calibri"/>
              </a:rPr>
              <a:t>Ce que montre ce schéma</a:t>
            </a:r>
          </a:p>
        </p:txBody>
      </p:sp>
      <p:sp>
        <p:nvSpPr>
          <p:cNvPr id="9" name="Oval 8"/>
          <p:cNvSpPr/>
          <p:nvPr/>
        </p:nvSpPr>
        <p:spPr>
          <a:xfrm>
            <a:off x="5665105" y="2743200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9425" y="2679192"/>
            <a:ext cx="56121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Les trois zones reproduisent la segmentation réelle d'une installation industrielle.</a:t>
            </a:r>
          </a:p>
        </p:txBody>
      </p:sp>
      <p:sp>
        <p:nvSpPr>
          <p:cNvPr id="11" name="Oval 10"/>
          <p:cNvSpPr/>
          <p:nvPr/>
        </p:nvSpPr>
        <p:spPr>
          <a:xfrm>
            <a:off x="5665105" y="3584448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39425" y="3520440"/>
            <a:ext cx="56121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D'un métier à l'autre, la structure ne change pas : seuls les équipements changent.</a:t>
            </a:r>
          </a:p>
        </p:txBody>
      </p:sp>
      <p:sp>
        <p:nvSpPr>
          <p:cNvPr id="13" name="Oval 12"/>
          <p:cNvSpPr/>
          <p:nvPr/>
        </p:nvSpPr>
        <p:spPr>
          <a:xfrm>
            <a:off x="5665105" y="4425696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39425" y="4361688"/>
            <a:ext cx="561219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Chaque équipement s'ouvre d'un clic depuis le portail, comme un onglet de navigateur.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ARCHITECTURE FONCTIONNELLE 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1B1F"/>
                </a:solidFill>
                <a:latin typeface="Calibri"/>
              </a:rPr>
              <a:t>Le parcours d'un utilisateur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Du mail d'invitation à l'ouverture d'un écran de supervision.</a:t>
            </a:r>
          </a:p>
        </p:txBody>
      </p:sp>
      <p:pic>
        <p:nvPicPr>
          <p:cNvPr id="7" name="Picture 6" descr="comp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6260442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57722" y="1764792"/>
            <a:ext cx="41938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B1B1F"/>
                </a:solidFill>
                <a:latin typeface="Calibri"/>
              </a:rPr>
              <a:t>Ce que montre ce schéma</a:t>
            </a:r>
          </a:p>
        </p:txBody>
      </p:sp>
      <p:sp>
        <p:nvSpPr>
          <p:cNvPr id="9" name="Oval 8"/>
          <p:cNvSpPr/>
          <p:nvPr/>
        </p:nvSpPr>
        <p:spPr>
          <a:xfrm>
            <a:off x="7357722" y="2743200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2042" y="2679192"/>
            <a:ext cx="391957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Aucune inscription libre : un compte est toujours créé pour vous par un responsable.</a:t>
            </a:r>
          </a:p>
        </p:txBody>
      </p:sp>
      <p:sp>
        <p:nvSpPr>
          <p:cNvPr id="11" name="Oval 10"/>
          <p:cNvSpPr/>
          <p:nvPr/>
        </p:nvSpPr>
        <p:spPr>
          <a:xfrm>
            <a:off x="7357722" y="3584448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2042" y="3520440"/>
            <a:ext cx="391957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Le téléphone devient le second facteur — un mot de passe seul ne suffit jamais.</a:t>
            </a:r>
          </a:p>
        </p:txBody>
      </p:sp>
      <p:sp>
        <p:nvSpPr>
          <p:cNvPr id="13" name="Oval 12"/>
          <p:cNvSpPr/>
          <p:nvPr/>
        </p:nvSpPr>
        <p:spPr>
          <a:xfrm>
            <a:off x="7357722" y="4425696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2042" y="4361688"/>
            <a:ext cx="391957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Une fois activé, la connexion tient en deux étapes et quelques secondes.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57722" y="5623560"/>
            <a:ext cx="4193893" cy="86868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57722" y="5762548"/>
            <a:ext cx="50800" cy="59070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7178" y="5824728"/>
            <a:ext cx="3754981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F5F6B"/>
                </a:solidFill>
                <a:latin typeface="Calibri"/>
              </a:rPr>
              <a:t>En cas d'oubli, chacun redéfinit son mot de passe seul, sans passer par nous.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ARCHITECTURE FONCTIONNELLE 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1B1F"/>
                </a:solidFill>
                <a:latin typeface="Calibri"/>
              </a:rPr>
              <a:t>Le cycle de vie d'un environnement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Ce qu'il devient pendant et entre les sessions.</a:t>
            </a:r>
          </a:p>
        </p:txBody>
      </p:sp>
      <p:pic>
        <p:nvPicPr>
          <p:cNvPr id="7" name="Picture 6" descr="labo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31649"/>
            <a:ext cx="7406640" cy="48840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764792"/>
            <a:ext cx="3047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B1B1F"/>
                </a:solidFill>
                <a:latin typeface="Calibri"/>
              </a:rPr>
              <a:t>Ce que montre ce schéma</a:t>
            </a:r>
          </a:p>
        </p:txBody>
      </p:sp>
      <p:sp>
        <p:nvSpPr>
          <p:cNvPr id="9" name="Oval 8"/>
          <p:cNvSpPr/>
          <p:nvPr/>
        </p:nvSpPr>
        <p:spPr>
          <a:xfrm>
            <a:off x="8503920" y="2743200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2679192"/>
            <a:ext cx="2773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Suspendre gèle l'état : vous reprenez exactement là où vous en étiez.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0" y="3584448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3520440"/>
            <a:ext cx="2773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Arrêter conserve l'environnement ; la session suivante repart d'une installation neuve.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0" y="4425696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4361688"/>
            <a:ext cx="2773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Le nettoyage automatique évite les oublis — et un environnement consulté n'est jamais interrompu.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ARCHITECTURE FONCTIONNELLE 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1B1F"/>
                </a:solidFill>
                <a:latin typeface="Calibri"/>
              </a:rPr>
              <a:t>Qui peut faire quoi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Les droits sont appliqués par le portail, pas laissés à la bonne volonté de chacun.</a:t>
            </a:r>
          </a:p>
        </p:txBody>
      </p:sp>
      <p:pic>
        <p:nvPicPr>
          <p:cNvPr id="7" name="Picture 6" descr="matrice_dro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7162940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60220" y="1764792"/>
            <a:ext cx="32913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B1B1F"/>
                </a:solidFill>
                <a:latin typeface="Calibri"/>
              </a:rPr>
              <a:t>Ce que montre ce schéma</a:t>
            </a:r>
          </a:p>
        </p:txBody>
      </p:sp>
      <p:sp>
        <p:nvSpPr>
          <p:cNvPr id="9" name="Oval 8"/>
          <p:cNvSpPr/>
          <p:nvPr/>
        </p:nvSpPr>
        <p:spPr>
          <a:xfrm>
            <a:off x="8260220" y="2743200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540" y="2679192"/>
            <a:ext cx="30170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Un participant ne peut jamais modifier l'installation : il observe et se forme.</a:t>
            </a:r>
          </a:p>
        </p:txBody>
      </p:sp>
      <p:sp>
        <p:nvSpPr>
          <p:cNvPr id="11" name="Oval 10"/>
          <p:cNvSpPr/>
          <p:nvPr/>
        </p:nvSpPr>
        <p:spPr>
          <a:xfrm>
            <a:off x="8260220" y="3584448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4540" y="3520440"/>
            <a:ext cx="30170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Votre référent crée et supprime les comptes de ses équipes quand il le souhaite.</a:t>
            </a:r>
          </a:p>
        </p:txBody>
      </p:sp>
      <p:sp>
        <p:nvSpPr>
          <p:cNvPr id="13" name="Oval 12"/>
          <p:cNvSpPr/>
          <p:nvPr/>
        </p:nvSpPr>
        <p:spPr>
          <a:xfrm>
            <a:off x="8260220" y="4425696"/>
            <a:ext cx="118872" cy="118872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540" y="4361688"/>
            <a:ext cx="30170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Chacun ne voit à l'écran que ce qu'il a le droit d'ouvrir.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DANS LE PORTAIL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1B1F"/>
                </a:solidFill>
                <a:latin typeface="Calibri"/>
              </a:rPr>
              <a:t>Ce que vos équipes ont sous les yeux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Une page unique, qui rassemble tous les accès de la simulation.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6035040" cy="4069080"/>
          </a:xfrm>
          <a:prstGeom prst="roundRect">
            <a:avLst>
              <a:gd name="adj" fmla="val 4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Votre environnement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23160"/>
            <a:ext cx="54864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2633472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79192"/>
            <a:ext cx="1234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EN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6334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F6B"/>
                </a:solidFill>
                <a:latin typeface="Calibri"/>
              </a:rPr>
              <a:t>Arrêter   |   Suspendre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Vos accès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03320"/>
            <a:ext cx="1737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703320"/>
            <a:ext cx="1737360" cy="38100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922776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B1B1F"/>
                </a:solidFill>
                <a:latin typeface="Calibri"/>
              </a:rPr>
              <a:t>Supervision</a:t>
            </a:r>
          </a:p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B1B1F"/>
                </a:solidFill>
                <a:latin typeface="Calibri"/>
              </a:rPr>
              <a:t>site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3703320"/>
            <a:ext cx="1737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61488" y="3703320"/>
            <a:ext cx="1737360" cy="38100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216" y="3922776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B1B1F"/>
                </a:solidFill>
                <a:latin typeface="Calibri"/>
              </a:rPr>
              <a:t>Supervision</a:t>
            </a:r>
          </a:p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B1B1F"/>
                </a:solidFill>
                <a:latin typeface="Calibri"/>
              </a:rPr>
              <a:t>site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08576" y="3703320"/>
            <a:ext cx="1737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08576" y="3703320"/>
            <a:ext cx="1737360" cy="38100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8304" y="3922776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B1B1F"/>
                </a:solidFill>
                <a:latin typeface="Calibri"/>
              </a:rPr>
              <a:t>Vue 3D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663440"/>
            <a:ext cx="1737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663440"/>
            <a:ext cx="1737360" cy="38100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882896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B1B1F"/>
                </a:solidFill>
                <a:latin typeface="Calibri"/>
              </a:rPr>
              <a:t>Supervision</a:t>
            </a:r>
          </a:p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B1B1F"/>
                </a:solidFill>
                <a:latin typeface="Calibri"/>
              </a:rPr>
              <a:t>centrale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61488" y="4663440"/>
            <a:ext cx="1737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61488" y="4663440"/>
            <a:ext cx="1737360" cy="38100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71216" y="4882896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B1B1F"/>
                </a:solidFill>
                <a:latin typeface="Calibri"/>
              </a:rPr>
              <a:t>Automate</a:t>
            </a:r>
          </a:p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B1B1F"/>
                </a:solidFill>
                <a:latin typeface="Calibri"/>
              </a:rPr>
              <a:t>site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08576" y="4663440"/>
            <a:ext cx="17373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08576" y="4663440"/>
            <a:ext cx="1737360" cy="38100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4882896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B1B1F"/>
                </a:solidFill>
                <a:latin typeface="Calibri"/>
              </a:rPr>
              <a:t>Automate</a:t>
            </a:r>
          </a:p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B1B1F"/>
                </a:solidFill>
                <a:latin typeface="Calibri"/>
              </a:rPr>
              <a:t>site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19659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▪  Un clic, une interface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2267712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Chaque tuile ouvre directement l'écran correspondant.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9535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▪  Rien à installer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255264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Tout s'affiche dans le navigateur. Aucun logiciel sur les postes de vos équipes.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9410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▪  Toujours à jour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4242816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Si votre référent arrête l'environnement, l'écran de chacun le reflète immédiatement.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928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1F"/>
                </a:solidFill>
                <a:latin typeface="Calibri"/>
              </a:rPr>
              <a:t>▪  Adapté au profil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5230368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Un participant ne voit que ce qu'il a le droit d'ouvrir.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EN PRATIQUE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1B1F"/>
                </a:solidFill>
                <a:latin typeface="Calibri"/>
              </a:rPr>
              <a:t>Une journée de formation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Exemple : sensibiliser une équipe d'exploitation aux conséquences d'une intrusion.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143000" cy="566928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7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09h00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92807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B1F"/>
                </a:solidFill>
                <a:latin typeface="Calibri"/>
              </a:rPr>
              <a:t>Le référent démarre l'environnement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76271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Quelques minutes plus tard, l'installation est en service.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87751"/>
            <a:ext cx="1143000" cy="566928"/>
          </a:xfrm>
          <a:prstGeom prst="roundRect">
            <a:avLst>
              <a:gd name="adj" fmla="val 20000"/>
            </a:avLst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43199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09h15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06039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B1F"/>
                </a:solidFill>
                <a:latin typeface="Calibri"/>
              </a:rPr>
              <a:t>Prise en 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889503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L'équipe observe l'exploitation normale depuis la supervision centrale.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00983"/>
            <a:ext cx="1143000" cy="566928"/>
          </a:xfrm>
          <a:prstGeom prst="roundRect">
            <a:avLst>
              <a:gd name="adj" fmla="val 20000"/>
            </a:avLst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56431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10h30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319271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B1F"/>
                </a:solidFill>
                <a:latin typeface="Calibri"/>
              </a:rPr>
              <a:t>Le scénario se déclenche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602735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Des valeurs se mettent à dériver. L'équipe doit comprendre ce qui se passe.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14215"/>
            <a:ext cx="1143000" cy="566928"/>
          </a:xfrm>
          <a:prstGeom prst="roundRect">
            <a:avLst>
              <a:gd name="adj" fmla="val 20000"/>
            </a:avLst>
          </a:prstGeom>
          <a:solidFill>
            <a:srgbClr val="7A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69663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11h30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032503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B1F"/>
                </a:solidFill>
                <a:latin typeface="Calibri"/>
              </a:rPr>
              <a:t>Débriefing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315967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Retour sur les indices manqués et les bons réflexes.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27447"/>
            <a:ext cx="1143000" cy="566928"/>
          </a:xfrm>
          <a:prstGeom prst="roundRect">
            <a:avLst>
              <a:gd name="adj" fmla="val 20000"/>
            </a:avLst>
          </a:prstGeom>
          <a:solidFill>
            <a:srgbClr val="6B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82895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12h00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745735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B1F"/>
                </a:solidFill>
                <a:latin typeface="Calibri"/>
              </a:rPr>
              <a:t>Suspension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029199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Pause déjeuner : l'environnement est gelé, puis repris tel quel.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440679"/>
            <a:ext cx="1143000" cy="566928"/>
          </a:xfrm>
          <a:prstGeom prst="roundRect">
            <a:avLst>
              <a:gd name="adj" fmla="val 20000"/>
            </a:avLst>
          </a:prstGeom>
          <a:solidFill>
            <a:srgbClr val="6B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96127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17h00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458967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1B1F"/>
                </a:solidFill>
                <a:latin typeface="Calibri"/>
              </a:rPr>
              <a:t>Arrêt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742431"/>
            <a:ext cx="8961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5F6B"/>
                </a:solidFill>
                <a:latin typeface="Calibri"/>
              </a:rPr>
              <a:t>Fin de session. La prochaine repartira d'une installation neuve.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VOS GARANTIES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1B1F"/>
                </a:solidFill>
                <a:latin typeface="Calibri"/>
              </a:rPr>
              <a:t>Ce sur quoi vous pouvez compter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La séparation entre clients n'est pas une promesse commerciale : elle est technique.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30551"/>
            <a:ext cx="50800" cy="128016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3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B1B1F"/>
                </a:solidFill>
                <a:latin typeface="Calibri"/>
              </a:rPr>
              <a:t>Votre environnement est cloisonné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59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Il ne communique avec aucun autre client, et n'a aucun accès à Internet. Ce qui s'y passe ne peut ni sortir, ni contaminer quoi que ce soit.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130551"/>
            <a:ext cx="50800" cy="1280160"/>
          </a:xfrm>
          <a:prstGeom prst="rect">
            <a:avLst/>
          </a:prstGeom>
          <a:solidFill>
            <a:srgbClr val="2B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3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B1B1F"/>
                </a:solidFill>
                <a:latin typeface="Calibri"/>
              </a:rPr>
              <a:t>Vos données restent minimales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51759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Nous conservons les comptes de vos utilisateurs et leurs droits. Le contenu de vos sessions de formation ne remonte nulle part.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199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42231"/>
            <a:ext cx="50800" cy="1280160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6051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B1B1F"/>
                </a:solidFill>
                <a:latin typeface="Calibri"/>
              </a:rPr>
              <a:t>Un accès protégé à deux facteurs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39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Mot de passe et code temporaire sont exigés à chaque connexion, pour tous les profils, sans exception possible.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86199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4142231"/>
            <a:ext cx="50800" cy="1280160"/>
          </a:xfrm>
          <a:prstGeom prst="rect">
            <a:avLst/>
          </a:prstGeom>
          <a:solidFill>
            <a:srgbClr val="7A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16051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B1B1F"/>
                </a:solidFill>
                <a:latin typeface="Calibri"/>
              </a:rPr>
              <a:t>Vous gardez la main sur vos accès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663439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F5F6B"/>
                </a:solidFill>
                <a:latin typeface="Calibri"/>
              </a:rPr>
              <a:t>Votre référent crée et supprime les comptes de ses participants quand il le souhaite, sans nous solliciter.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B640A"/>
                </a:solidFill>
                <a:latin typeface="Calibri"/>
              </a:rPr>
              <a:t>PRÉREQUIS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1B1F"/>
                </a:solidFill>
                <a:latin typeface="Calibri"/>
              </a:rPr>
              <a:t>Ce dont vous avez besoin de votre côté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La liste est volontairement courte.</a:t>
            </a:r>
          </a:p>
        </p:txBody>
      </p:sp>
      <p:sp>
        <p:nvSpPr>
          <p:cNvPr id="7" name="Oval 6"/>
          <p:cNvSpPr/>
          <p:nvPr/>
        </p:nvSpPr>
        <p:spPr>
          <a:xfrm>
            <a:off x="1280160" y="2011680"/>
            <a:ext cx="502920" cy="502920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1305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02996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1B1F"/>
                </a:solidFill>
                <a:latin typeface="Calibri"/>
              </a:rPr>
              <a:t>Un navigateur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39572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À jour. Rien à installer, aucun droit administrateur requis sur les postes.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3035808"/>
            <a:ext cx="502920" cy="502920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5468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05409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1B1F"/>
                </a:solidFill>
                <a:latin typeface="Calibri"/>
              </a:rPr>
              <a:t>Un téléphone par utilisateur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41985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Pour l'application d'authentification. Une application gratuite et standard suffit.</a:t>
            </a:r>
          </a:p>
        </p:txBody>
      </p:sp>
      <p:sp>
        <p:nvSpPr>
          <p:cNvPr id="15" name="Oval 14"/>
          <p:cNvSpPr/>
          <p:nvPr/>
        </p:nvSpPr>
        <p:spPr>
          <a:xfrm>
            <a:off x="1280160" y="4059936"/>
            <a:ext cx="502920" cy="502920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17880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07822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1B1F"/>
                </a:solidFill>
                <a:latin typeface="Calibri"/>
              </a:rPr>
              <a:t>Une adresse email par utilisateur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44398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C'est l'identifiant de connexion, et le canal des invitations.</a:t>
            </a:r>
          </a:p>
        </p:txBody>
      </p:sp>
      <p:sp>
        <p:nvSpPr>
          <p:cNvPr id="19" name="Oval 18"/>
          <p:cNvSpPr/>
          <p:nvPr/>
        </p:nvSpPr>
        <p:spPr>
          <a:xfrm>
            <a:off x="1280160" y="5084064"/>
            <a:ext cx="502920" cy="502920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2029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0235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1B1F"/>
                </a:solidFill>
                <a:latin typeface="Calibri"/>
              </a:rPr>
              <a:t>Un référent désigné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46811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La personne qui créera les comptes de vos équipes et pilotera les sessions.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5486400"/>
            <a:ext cx="9601200" cy="777240"/>
          </a:xfrm>
          <a:prstGeom prst="roundRect">
            <a:avLst>
              <a:gd name="adj" fmla="val 6000"/>
            </a:avLst>
          </a:prstGeom>
          <a:solidFill>
            <a:srgbClr val="F7F5F7"/>
          </a:solidFill>
          <a:ln w="12700">
            <a:solidFill>
              <a:srgbClr val="E6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80160" y="5610758"/>
            <a:ext cx="50800" cy="528523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99616" y="5687568"/>
            <a:ext cx="916228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F5F6B"/>
                </a:solidFill>
                <a:latin typeface="Calibri"/>
              </a:rPr>
              <a:t>Aucune installation sur votre réseau, aucune connexion à vos systèmes réels : la plateforme est totalement indépendante de votre production.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7A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3840480"/>
            <a:ext cx="4937760" cy="4937760"/>
          </a:xfrm>
          <a:prstGeom prst="ellipse">
            <a:avLst/>
          </a:prstGeom>
          <a:solidFill>
            <a:srgbClr val="57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C52"/>
                </a:solidFill>
                <a:latin typeface="Calibri"/>
              </a:rPr>
              <a:t>EN RÉSUMÉ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Trois choses à retenir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697480"/>
            <a:ext cx="502920" cy="502920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163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72491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Une réplique de votre métier, à vous seul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36392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CFBAC4"/>
                </a:solidFill>
                <a:latin typeface="Calibri"/>
              </a:rPr>
              <a:t>Dispatching électrique, système ferroviaire, raffinerie : la plateforme s'adapte au secteur.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CFBAC4"/>
                </a:solidFill>
                <a:latin typeface="Calibri"/>
              </a:rPr>
              <a:t>Votre environnement est séparé de celui des autres clients, et sans aucun lien avec votre production.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995928"/>
            <a:ext cx="502920" cy="502920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0233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Accessible en quelques minutes, depuis un navigateur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348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CFBAC4"/>
                </a:solidFill>
                <a:latin typeface="Calibri"/>
              </a:rPr>
              <a:t>Rien à installer. Votre référent démarre l'environnement quand vous en avez besoin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CFBAC4"/>
                </a:solidFill>
                <a:latin typeface="Calibri"/>
              </a:rPr>
              <a:t>et l'arrête ensuite ; la plateforme se charge du reste.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294376"/>
            <a:ext cx="502920" cy="502920"/>
          </a:xfrm>
          <a:prstGeom prst="ellipse">
            <a:avLst/>
          </a:prstGeom>
          <a:solidFill>
            <a:srgbClr val="EB6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132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32180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Vos équipes peuvent tout tenter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73328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CFBAC4"/>
                </a:solidFill>
                <a:latin typeface="Calibri"/>
              </a:rPr>
              <a:t>C'est le principe : on s'y trompe, on y observe les conséquences, on recommence.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CFBAC4"/>
                </a:solidFill>
                <a:latin typeface="Calibri"/>
              </a:rPr>
              <a:t>Un environnement abîmé se remet à neuf en quelques minutes.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