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937760" cy="4937760"/>
          </a:xfrm>
          <a:prstGeom prst="ellipse">
            <a:avLst/>
          </a:prstGeom>
          <a:solidFill>
            <a:srgbClr val="57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C52"/>
                </a:solidFill>
                <a:latin typeface="Calibri"/>
              </a:rPr>
              <a:t>CYBER RANGE INDUSTRIEL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Talixman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E8D8DF"/>
                </a:solidFill>
                <a:latin typeface="Calibri"/>
              </a:rPr>
              <a:t>Architecture technique de la plateforme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2011680" cy="508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B2BD"/>
                </a:solidFill>
                <a:latin typeface="Calibri"/>
              </a:rPr>
              <a:t>Composants et réseaux  ·  Reverse proxies  ·  Lancement authentifié des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B2BD"/>
                </a:solidFill>
                <a:latin typeface="Calibri"/>
              </a:rPr>
              <a:t>composants sans Keycloak  ·  Envoi d'emails  ·  Trajectoire vers HTTPS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Architecture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Quatre étages : utilisateur, portail, orchestrateur, laboratoires.</a:t>
            </a:r>
          </a:p>
        </p:txBody>
      </p:sp>
      <p:pic>
        <p:nvPicPr>
          <p:cNvPr id="7" name="Picture 6" descr="architecure_glob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902" y="1591056"/>
            <a:ext cx="8759890" cy="3401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9379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Points de lecture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568696"/>
            <a:ext cx="100584" cy="100584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522976"/>
            <a:ext cx="22814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F5F6B"/>
                </a:solidFill>
                <a:latin typeface="Calibri"/>
              </a:rPr>
              <a:t>Le portail détient l'identité, les rôles et la propriété des labos. Il ne parle jamais à Docker.</a:t>
            </a:r>
          </a:p>
        </p:txBody>
      </p:sp>
      <p:sp>
        <p:nvSpPr>
          <p:cNvPr id="11" name="Oval 10"/>
          <p:cNvSpPr/>
          <p:nvPr/>
        </p:nvSpPr>
        <p:spPr>
          <a:xfrm>
            <a:off x="3360420" y="5568696"/>
            <a:ext cx="100584" cy="100584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9876" y="5522976"/>
            <a:ext cx="22814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F5F6B"/>
                </a:solidFill>
                <a:latin typeface="Calibri"/>
              </a:rPr>
              <a:t>L'orchestrateur est scindé en deux rôles : « control » détient le socket Docker, « gateway » est la seule surface publique.</a:t>
            </a:r>
          </a:p>
        </p:txBody>
      </p:sp>
      <p:sp>
        <p:nvSpPr>
          <p:cNvPr id="13" name="Oval 12"/>
          <p:cNvSpPr/>
          <p:nvPr/>
        </p:nvSpPr>
        <p:spPr>
          <a:xfrm>
            <a:off x="6080760" y="5568696"/>
            <a:ext cx="100584" cy="100584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5522976"/>
            <a:ext cx="22814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F5F6B"/>
                </a:solidFill>
                <a:latin typeface="Calibri"/>
              </a:rPr>
              <a:t>Chaque laboratoire embarque son propre démon Docker rootless, son compose, son Nginx interne et ses réseaux L1/L2/L3 — d'où des adresses réutilisables sans collision.</a:t>
            </a:r>
          </a:p>
        </p:txBody>
      </p:sp>
      <p:sp>
        <p:nvSpPr>
          <p:cNvPr id="15" name="Oval 14"/>
          <p:cNvSpPr/>
          <p:nvPr/>
        </p:nvSpPr>
        <p:spPr>
          <a:xfrm>
            <a:off x="8801100" y="5568696"/>
            <a:ext cx="100584" cy="10058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0556" y="5522976"/>
            <a:ext cx="22814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F5F6B"/>
                </a:solidFill>
                <a:latin typeface="Calibri"/>
              </a:rPr>
              <a:t>L'exposition publique (Nginx/Caddy, TLS, nom de domaine) est le seul bloc encore à venir.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ÉTAT DES LIEUX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Ce qui est en place, ce qui reste à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Distinction utile pour lire le schéma précédent sans ambiguïté.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8E5A"/>
                </a:solidFill>
                <a:latin typeface="Calibri"/>
              </a:rPr>
              <a:t>EN PLACE ET VALIDÉ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12264"/>
            <a:ext cx="118872" cy="118872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Authentification à deux facteurs, invitations, réinitialisation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42616"/>
            <a:ext cx="118872" cy="118872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RBAC par rôle et par secteur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72968"/>
            <a:ext cx="118872" cy="118872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Cycle de vie complet des laboratoires (créer, démarrer, suspendre, détruire)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03320"/>
            <a:ext cx="118872" cy="118872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484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Runtime Docker-in-Docker rootless, quotas et nettoyage automatique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33672"/>
            <a:ext cx="118872" cy="118872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788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Gateway d'exposition : une origine par composant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64024"/>
            <a:ext cx="118872" cy="118872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Nginx interne à chaque laboratoire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294376"/>
            <a:ext cx="118872" cy="118872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395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Lancement authentifié des composants (jeton signé par le portail)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B640A"/>
                </a:solidFill>
                <a:latin typeface="Calibri"/>
              </a:rPr>
              <a:t>À VENIR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112264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0574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Reverse proxy public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32257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Nginx ou Caddy en frontal, sur l'hôte — porte le domaine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862072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8072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TLS / HTTPS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0723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Certificat générique, terminaison au niveau du proxy public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611880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5570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Nom de domaine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221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Prérequis de tout le reste ; supprime aussi la limite de ~9 labos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361688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306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Envoi d'emails réel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572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Bascule du mode console vers le relais SMTP2GO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5111496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05663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Sauvegarde automatique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3218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Aujourd'hui manuelle uniquement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897880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6007608"/>
            <a:ext cx="50800" cy="46634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6080760"/>
            <a:ext cx="104424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Aucun de ces éléments à venir ne demande de refonte : l'exposition réseau est une stratégie remplaçable, et le portail ne construit jamais d'URL lui-même.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RÉSEAUX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Les trois réseaux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Le cloisonnement réseau est le socle de toute la sécurité de la plateforme.</a:t>
            </a:r>
          </a:p>
        </p:txBody>
      </p:sp>
      <p:pic>
        <p:nvPicPr>
          <p:cNvPr id="7" name="Picture 6" descr="Réseaux_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5655"/>
            <a:ext cx="7772400" cy="44113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23960" y="1682496"/>
            <a:ext cx="2727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B1B1F"/>
                </a:solidFill>
                <a:latin typeface="Calibri"/>
              </a:rPr>
              <a:t>Points de lecture</a:t>
            </a:r>
          </a:p>
        </p:txBody>
      </p:sp>
      <p:sp>
        <p:nvSpPr>
          <p:cNvPr id="9" name="Oval 8"/>
          <p:cNvSpPr/>
          <p:nvPr/>
        </p:nvSpPr>
        <p:spPr>
          <a:xfrm>
            <a:off x="8823960" y="2377440"/>
            <a:ext cx="109728" cy="109728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9992" y="2322576"/>
            <a:ext cx="24716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Réseau applicatif : PostgreSQL, Redis, l'API et le frontend. C'est le cœur métier du portail.</a:t>
            </a:r>
          </a:p>
        </p:txBody>
      </p:sp>
      <p:sp>
        <p:nvSpPr>
          <p:cNvPr id="11" name="Oval 10"/>
          <p:cNvSpPr/>
          <p:nvPr/>
        </p:nvSpPr>
        <p:spPr>
          <a:xfrm>
            <a:off x="8823960" y="3273552"/>
            <a:ext cx="109728" cy="109728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3218688"/>
            <a:ext cx="24716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Réseau labs : déclaré « internal », donc SANS aucune sortie vers Internet ni vers le réseau applicatif.</a:t>
            </a:r>
          </a:p>
        </p:txBody>
      </p:sp>
      <p:sp>
        <p:nvSpPr>
          <p:cNvPr id="13" name="Oval 12"/>
          <p:cNvSpPr/>
          <p:nvPr/>
        </p:nvSpPr>
        <p:spPr>
          <a:xfrm>
            <a:off x="8823960" y="4169664"/>
            <a:ext cx="109728" cy="109728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4114800"/>
            <a:ext cx="24716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Réseau public : le seul joignable de l'extérieur, réservé à la gateway.</a:t>
            </a:r>
          </a:p>
        </p:txBody>
      </p:sp>
      <p:sp>
        <p:nvSpPr>
          <p:cNvPr id="15" name="Oval 14"/>
          <p:cNvSpPr/>
          <p:nvPr/>
        </p:nvSpPr>
        <p:spPr>
          <a:xfrm>
            <a:off x="8823960" y="5065776"/>
            <a:ext cx="109728" cy="109728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5010912"/>
            <a:ext cx="24716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 rôle « control » est le seul point de contact entre le réseau applicatif et le réseau labs.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5760720"/>
            <a:ext cx="2727655" cy="7772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5885078"/>
            <a:ext cx="50800" cy="528523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5943600"/>
            <a:ext cx="2288743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 labo compromis — machine d'attaque comprise — ne peut atteindre ni la base du portail, ni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RÉSEAUX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Ce que « internal: true » implique concrètement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C'est la contrainte qui a décidé de l'abandon de Keycloak — d'où l'importance de la poser clairement.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État réel constaté sur la plateforme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11680"/>
          <a:ext cx="1088136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68680"/>
                <a:gridCol w="3657600"/>
                <a:gridCol w="370332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Réseau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Contient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Conséquence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talixman-auth_default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PostgreSQL, Redis, API, frontend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Accès Internet possible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talixman_labs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control, gateway, conteneurs de labo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Aucune sortie, aucune résolution externe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talixman_gateway_ingress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gateway uniquement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Publication des points d'entrée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86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Ce qu'un conteneur de laboratoire peut, et ne peut pas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51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80560"/>
            <a:ext cx="50800" cy="9144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8E5A"/>
                </a:solidFill>
                <a:latin typeface="Calibri"/>
              </a:rPr>
              <a:t>Peut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•  Joindre les autres conteneurs de son propre laboratoire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•  Être joint par la gateway, qui relaie le trafic HTTP et WebSocket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480560"/>
            <a:ext cx="50800" cy="914400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F2D31"/>
                </a:solidFill>
                <a:latin typeface="Calibri"/>
              </a:rPr>
              <a:t>Ne peut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54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•  Joindre PostgreSQL, Redis ou l'API du portail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06577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•  Sortir sur Internet — donc appeler un service d'authentification externe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766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•  Résoudre un nom d'hôte extérieur à son réseau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5216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969203"/>
            <a:ext cx="50800" cy="497433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6035040"/>
            <a:ext cx="10442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Ce cloisonnement est volontaire et non négociable : il empêche qu'un exercice offensif atteigne la plateforme elle-même. Toute brique d'authentification devait donc s'y plier.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EXPOSITION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Trois reverse proxies, trois étages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Deux sont en service aujourd'hui ; le troisième arrivera avec le nom de domaine.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611880" cy="749808"/>
          </a:xfrm>
          <a:prstGeom prst="roundRect">
            <a:avLst>
              <a:gd name="adj" fmla="val 22000"/>
            </a:avLst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NGINX DU LABORATOIRE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3337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0E4EA"/>
                </a:solidFill>
                <a:latin typeface="Calibri"/>
              </a:rPr>
              <a:t>En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0604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 par laboratoire, embarqué dans son compose.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Attaché aux réseaux L1/L2/L3 avec des adresses fixes.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 bloc « server » par composant : un port d'écoute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distinct relayé vers le service correspondant.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Ses ports sont publiés DANS le conteneur de labo,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jamais sur l'hôte.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69164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1416" y="1691640"/>
            <a:ext cx="3611880" cy="749808"/>
          </a:xfrm>
          <a:prstGeom prst="roundRect">
            <a:avLst>
              <a:gd name="adj" fmla="val 22000"/>
            </a:avLst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GATEWAY DE L'ORCHESTRATEUR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121408"/>
            <a:ext cx="3337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0E4EA"/>
                </a:solidFill>
                <a:latin typeface="Calibri"/>
              </a:rPr>
              <a:t>En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60604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Une seule instance, partagée par tous les labos.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Ouvre un point d'entrée par composant et relaie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HTTP et WebSocket.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Se resynchronise avec l'état des labos toutes les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5 secondes — aucune route à déclarer.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N'a aucun accès au socket Docker.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69164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2752" y="1691640"/>
            <a:ext cx="3611880" cy="749808"/>
          </a:xfrm>
          <a:prstGeom prst="roundRect">
            <a:avLst>
              <a:gd name="adj" fmla="val 22000"/>
            </a:avLst>
          </a:prstGeom>
          <a:solidFill>
            <a:srgbClr val="6B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82880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PROXY 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121408"/>
            <a:ext cx="3337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0E4EA"/>
                </a:solidFill>
                <a:latin typeface="Calibri"/>
              </a:rPr>
              <a:t>À venir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260604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Une seule instance, en frontal sur l'hôte.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Portera le nom de domaine et le certificat.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Terminaison TLS : au-delà, le trafic reste en clair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sur un réseau Docker privé.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Configuration statique : une règle générique suffit.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8932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6094658"/>
            <a:ext cx="50800" cy="447690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6172200"/>
            <a:ext cx="1044244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Le Nginx du laboratoire ne peut pas servir de point d'entrée public : il est dupliqué par labo, adressé à l'identique partout, et situé dans la zone non fiable.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EXPOSITION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Une origine par composant — et pourquoi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Contrainte imposée par les logiciels industriels, pas un choix esthétique.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28139"/>
            <a:ext cx="50800" cy="1430121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4910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Le problème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910328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Les logiciels du laboratoire construisent tous leurs liens depuis la RACINE du site :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la supervision déclare une base de document à « / »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les automates redirigent vers « /login » en absolu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les appels d'API et les WebSockets partent de « / »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Servis sous un préfixe de chemin, ils redemandent leurs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ressources hors du préfixe et ne chargent jamais.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28139"/>
            <a:ext cx="50800" cy="1430121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828800"/>
            <a:ext cx="4910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La réponse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167128"/>
            <a:ext cx="4910328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Chaque composant reçoit sa PROPRE origine complète.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Aujourd'hui : un port dédié par composant.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Demain : un sous-domaine par composant.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Les corriger imposerait de modifier chaque logiciel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industriel — ce qui dégraderait la fidélité de la simulation.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B1F"/>
                </a:solidFill>
                <a:latin typeface="Calibri"/>
              </a:rPr>
              <a:t>Le portail ne connaît jamais les 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4F2F4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553712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GET /labs/me   -&gt;   { "services": [ { "name": "scada-station-a",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                                "url": "http://&lt;hote&gt;:20001" }, ... ] }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Le frontend relaie `services[].url` tel quel. Changer de stratégie d'exposition ne touche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ni le portail, ni le frontend, ni les logiciels du laboratoire.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916168"/>
            <a:ext cx="50800" cy="466344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989320"/>
            <a:ext cx="104424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Effet de bord notable : la limite actuelle d'environ 9 laboratoires simultanés vient uniquement de la plage de ports réservée. Le passage au nom de domaine la supprime.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AUTHENTIFICATION DES COMPOSANTS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Pourquoi Keycloak a été abandonné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L'intégration existait et fonctionnait. Trois constats l'ont rendue intenable.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665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9280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B1F"/>
                </a:solidFill>
                <a:latin typeface="Calibri"/>
              </a:rPr>
              <a:t>Le laboratoire ne peut pas joindre Keycloak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402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 composant validait le jeton en récupérant les clés publiques auprès de Keycloak.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Or le réseau des labos est « internal » : aucune sortie, aucune résolution externe.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Ouvrir une route aurait annulé le cloisonnement — c'est-à-dire la garantie principale.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72968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447288"/>
            <a:ext cx="457200" cy="457200"/>
          </a:xfrm>
          <a:prstGeom prst="ellipse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478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74136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B1F"/>
                </a:solidFill>
                <a:latin typeface="Calibri"/>
              </a:rPr>
              <a:t>Les URL de lancement sont dynamiques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2160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Keycloak refuse toute URL de retour non enregistrée. Or le port d'un composant est alloué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par labo et réattribué à chaque recréation. Il aurait fallu enregistrer toute la plage,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ce qui vide de son sens le contrôle de l'URL de retour.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54296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928616"/>
            <a:ext cx="457200" cy="45720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55464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B1F"/>
                </a:solidFill>
                <a:latin typeface="Calibri"/>
              </a:rPr>
              <a:t>Un coût d'exploitation disproportionné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02936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 serveur supplémentaire à déployer, sauvegarder et maintenir, plus un realm et des clients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à recréer à la main — pour un seul besoin : ouvrir une session dans un composant du labo.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6172200"/>
            <a:ext cx="10881360" cy="5486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6259982"/>
            <a:ext cx="50800" cy="373075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6355080"/>
            <a:ext cx="10442448" cy="-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Keycloak est aujourd'hui entièrement retiré : plus aucun conteneur, plus aucun module dans le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AUTHENTIFICATION DES COMPOSANTS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Ce qui remplace Keycloak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Un jeton de lancement signé par le portail, vérifié localement par le composant.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766560" cy="3200400"/>
          </a:xfrm>
          <a:prstGeom prst="roundRect">
            <a:avLst>
              <a:gd name="adj" fmla="val 5000"/>
            </a:avLst>
          </a:prstGeom>
          <a:solidFill>
            <a:srgbClr val="F4F2F4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PORTAIL                         ORCHESTRATEUR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cle maitresse LAB_SSO_MASTER_KEY (partagee, jamais transmise)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|                                  |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|  secret du labo = HMAC-SHA256(cle, labId)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|                                  |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|                                  v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|                       injecte LAB_SSO_SECRET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|                       dans le conteneur du labo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v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signe un jeton JWT HS256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avec le secret du labo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|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|  redirection du navigateur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  v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COMPOSANT (SCADA du labo)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verifie la signature LOCALEMENT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-&gt; aucun appel sortant du laboratoire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▪  Secret dérivé, jamais transmis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029968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 portail et l'orchestrateur calculent la même valeur. La clé maîtresse ne quitte jamais leur environnement.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346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▪  Cloisonnement préservé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127248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Lire le secret dans SON conteneur ne permet ni de remonter à la clé maîtresse, ni de dériver celui d'un autre labo.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93192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▪  Zéro dépendance réseau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224528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La vérification est locale — c'est exactement ce qui permet de garder le réseau des labos totalement fermé.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29200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138928"/>
            <a:ext cx="50800" cy="46634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212080"/>
            <a:ext cx="104424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Déployé de bout en bout : le portail signe, l'orchestrateur injecte le secret, et le module de vérification est présent dans les trois superviseurs du laboratoire.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97880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6007608"/>
            <a:ext cx="50800" cy="466344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6080760"/>
            <a:ext cx="104424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Bénéfice collatéral : un serveur de moins à déployer, sauvegarder et maintenir — et plus aucune configuration manuelle à refaire en cas de redéploiement.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AUTHENTIFICATION DES COMPOSANTS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Anatomie du jeton de lancement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JWT signé en HMAC-SHA256, durée de vie 60 secondes.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852160" cy="2743200"/>
          </a:xfrm>
          <a:prstGeom prst="roundRect">
            <a:avLst>
              <a:gd name="adj" fmla="val 5000"/>
            </a:avLst>
          </a:prstGeom>
          <a:solidFill>
            <a:srgbClr val="F4F2F4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5486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{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"iss":    "talixman-portal",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"aud":    "&lt;labId&gt;:&lt;composant&gt;",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"sub":    "&lt;identifiant utilisateur&gt;",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"email":  "...",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"name":   "...",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"groups": 2,          // droits dans le composant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"jti":    "&lt;aleatoire&gt;",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"iat": ..., "exp": iat + 60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Correspondance des rôles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937760"/>
          <a:ext cx="585216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320040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Rôle portail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groups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Effet dans le composant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SUPERADMIN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Administration complète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Pilotage et commandes, pas d'édition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GUEST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Lecture seule stricte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0" y="17373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▪  Durée de vie de 60 secondes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029968"/>
            <a:ext cx="4434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 jeton est consommé dans la seconde par une redirection. Une minute borne la fenêtre en cas de fuite (historique, journaux de proxy).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0779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▪  Audience par composant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200400"/>
            <a:ext cx="4434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Les trois superviseurs d'un labo partagent son secret : sans « aud », un jeton émis pour l'un serait rejouable sur les autres.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782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▪  Algorithme figé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370832"/>
            <a:ext cx="4434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« HS256 » est imposé à l'émission ET vérifié à la réception — ce qui ferme la confusion d'algorithme.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24865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▪  Charge utile minimale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5541264"/>
            <a:ext cx="4434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Ni empreinte de mot de passe, ni secret de second facteur, ni identifiant de session du portail.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Le système d'envoi d'emails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Deux parcours seulement en dépendent — mais ils sont bloquants.</a:t>
            </a:r>
          </a:p>
        </p:txBody>
      </p:sp>
      <p:pic>
        <p:nvPicPr>
          <p:cNvPr id="7" name="Picture 6" descr="envoi_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91056"/>
            <a:ext cx="278257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34130" y="1682496"/>
            <a:ext cx="77174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B1B1F"/>
                </a:solidFill>
                <a:latin typeface="Calibri"/>
              </a:rPr>
              <a:t>Points de lecture</a:t>
            </a:r>
          </a:p>
        </p:txBody>
      </p:sp>
      <p:sp>
        <p:nvSpPr>
          <p:cNvPr id="9" name="Oval 8"/>
          <p:cNvSpPr/>
          <p:nvPr/>
        </p:nvSpPr>
        <p:spPr>
          <a:xfrm>
            <a:off x="3834130" y="2377440"/>
            <a:ext cx="109728" cy="109728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0162" y="2322576"/>
            <a:ext cx="74614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Invitation de compte : lien d'activation à usage unique, valable 48 heures.</a:t>
            </a:r>
          </a:p>
        </p:txBody>
      </p:sp>
      <p:sp>
        <p:nvSpPr>
          <p:cNvPr id="11" name="Oval 10"/>
          <p:cNvSpPr/>
          <p:nvPr/>
        </p:nvSpPr>
        <p:spPr>
          <a:xfrm>
            <a:off x="3834130" y="3273552"/>
            <a:ext cx="109728" cy="109728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0162" y="3218688"/>
            <a:ext cx="74614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Réinitialisation de mot de passe : lien à usage unique, valable 1 heure, code du téléphone toujours exigé.</a:t>
            </a:r>
          </a:p>
        </p:txBody>
      </p:sp>
      <p:sp>
        <p:nvSpPr>
          <p:cNvPr id="13" name="Oval 12"/>
          <p:cNvSpPr/>
          <p:nvPr/>
        </p:nvSpPr>
        <p:spPr>
          <a:xfrm>
            <a:off x="3834130" y="4169664"/>
            <a:ext cx="109728" cy="109728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0162" y="4114800"/>
            <a:ext cx="74614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Transport SMTP avec chiffrement STARTTLS, via le relais SMTP2GO.</a:t>
            </a:r>
          </a:p>
        </p:txBody>
      </p:sp>
      <p:sp>
        <p:nvSpPr>
          <p:cNvPr id="15" name="Oval 14"/>
          <p:cNvSpPr/>
          <p:nvPr/>
        </p:nvSpPr>
        <p:spPr>
          <a:xfrm>
            <a:off x="3834130" y="5065776"/>
            <a:ext cx="109728" cy="109728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0162" y="5010912"/>
            <a:ext cx="74614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 domaine expéditeur doit être vérifié (SPF et DKIM) sous peine de rejet.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Protocole et configuration SMTP2GO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Aucune modification de code : le service parle SMTP générique via Nodemailer.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Pourquoi SMTP et non l'API du fournisseur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11680"/>
          <a:ext cx="7132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SMTP (retenu)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API HTTP du fournisseur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Changer de fournisseur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Variables d'environnement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Réécriture du service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Dépendances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Aucune nouvelle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Kit du fournisseur à installer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Suivi fin (ouvertures, rebonds)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Adapté au volume ici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Oui — 2 emails par compte créé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Surdimensionné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977639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6858000" cy="1691640"/>
          </a:xfrm>
          <a:prstGeom prst="roundRect">
            <a:avLst>
              <a:gd name="adj" fmla="val 5000"/>
            </a:avLst>
          </a:prstGeom>
          <a:solidFill>
            <a:srgbClr val="F4F2F4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462272"/>
            <a:ext cx="64922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EMAIL_TRANSPORT = smtp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SMTP_HOST       = mail.smtp2go.com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SMTP_PORT       = 2525            # STARTTLS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SMTP_USER       = &lt;identifiant SMTP dedie&gt;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SMTP_PASSWORD   = &lt;mot de passe SMTP dedie&gt;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SMTP_FROM       = "Talixman Range &lt;no-reply@talixmangroup.com&gt;"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91640"/>
            <a:ext cx="3749039" cy="19202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998878"/>
            <a:ext cx="50800" cy="1305763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6" y="1828800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Choix du port —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2167128"/>
            <a:ext cx="3310127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 service ne définit pas l'option « secure » : la connexion démarre en clair puis bascule en TLS via STARTTLS.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Retenir 2525 ou 587. Les ports à TLS immédiat (465, 8465, 443) échoueraient en l'état.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703320"/>
            <a:ext cx="3749039" cy="12344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3900830"/>
            <a:ext cx="50800" cy="839419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6" y="3840480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Vérification du domaine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4178808"/>
            <a:ext cx="3310127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SPF et DKIM à publier sur talixmangroup.com. Tant que ce n'est pas fait, les envois vers des tiers sont rejetés.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029200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5182819"/>
            <a:ext cx="50800" cy="652881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6" y="5166360"/>
            <a:ext cx="3310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Mode de repli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5504688"/>
            <a:ext cx="3310127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EMAIL_TRANSPORT=console écrit le lien dans les journaux de l'API. C'est le mode actif aujourd'hui.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Comportement des deux 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Même mécanique de jeton, deux traitements volontairement différents.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4572000"/>
              </a:tblGrid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Invitation de compte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Réinitialisation de mot de passe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Déclenché par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Un administrateur, authentifié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N'importe qui, depuis la page publique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Validité du lien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48 heures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1 heure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Usage unique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Oui — les demandes antérieures sont périmées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Quota d'envoi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Aucun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3 par email et par 15 minutes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Si l'envoi échoue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Le compte est créé, l'interface le signale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Journalisé seulement, réponse inchangée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Second facteur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Configuré à cette étape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Déjà configuré, exigé quand même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Effet sur les sessions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Sans objet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F"/>
                          </a:solidFill>
                          <a:latin typeface="Calibri"/>
                        </a:rPr>
                        <a:t>Toutes les sessions du compte sont révoquées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3949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585155"/>
            <a:ext cx="50800" cy="808329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532120"/>
            <a:ext cx="4910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Pourquoi la réponse ne varie jamais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870448"/>
            <a:ext cx="491032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Email inconnu, compte désactivé, quota atteint, panne d'envoi : la réponse est identique. Une réponse différenciée ferait de cette page publique un moyen d'énumérer les comptes existants.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3949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5585155"/>
            <a:ext cx="50800" cy="808329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5532120"/>
            <a:ext cx="4910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Le stockage des jetons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5870448"/>
            <a:ext cx="491032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Seule l'empreinte SHA-256 du jeton est écrite en base. Le jeton en clair n'existe que dans l'email et dans l'URL cliquée — une fuite de la base ne permet de fabriquer aucun lien valide.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TRAJECTOIRE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B1F"/>
                </a:solidFill>
                <a:latin typeface="Calibri"/>
              </a:rPr>
              <a:t>Passage au nom de domaine et au HTTPS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241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Ce qui change, ce qui ne change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Chaîne 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49240" cy="2377440"/>
          </a:xfrm>
          <a:prstGeom prst="roundRect">
            <a:avLst>
              <a:gd name="adj" fmla="val 5000"/>
            </a:avLst>
          </a:prstGeom>
          <a:solidFill>
            <a:srgbClr val="F4F2F4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30552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Internet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|  HTTPS 443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v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Proxy public          &lt;- NOUVEAU (domaine + TLS)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|  HTTP sur reseau prive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v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Gateway               &lt;- inchangee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|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v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Nginx du laboratoire  &lt;- inchange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|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   v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A33"/>
                </a:solidFill>
                <a:latin typeface="Consolas"/>
              </a:rPr>
              <a:t>  Composants            &lt;- inchanges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459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Nature du travail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965960"/>
          <a:ext cx="5349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834640"/>
                <a:gridCol w="1143000"/>
              </a:tblGrid>
              <a:tr h="47548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Détail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Poids</a:t>
                      </a:r>
                    </a:p>
                  </a:txBody>
                  <a:tcPr marL="91440" marR="54864" anchor="ctr">
                    <a:solidFill>
                      <a:srgbClr val="2C0F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DNS générique, proxy, certificat, variables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L'essentiel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Code nouveau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Stratégie de nommage + aiguillage sur l'en-tête Host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~130 lignes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Code corrigé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Déclarer le proxy de confiance dans le backend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1 ligne, impérative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Code inchangé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Portail, frontend, labos, logiciels industriels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Aucune</a:t>
                      </a:r>
                    </a:p>
                  </a:txBody>
                  <a:tcPr marL="91440" marR="54864" anchor="ctr">
                    <a:solidFill>
                      <a:srgbClr val="F7F5F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" y="45720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769510"/>
            <a:ext cx="50800" cy="839419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709160"/>
            <a:ext cx="4910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Piège du certificat générique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047488"/>
            <a:ext cx="4910328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 certificat pour *.range.exemple.fr couvre « scada-a-lab7f3a.range… » mais PAS « scada-a.lab7f3a.range… ». Composant et labo doivent tenir dans une seule étiquette DNS.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5720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769510"/>
            <a:ext cx="50800" cy="839419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4709160"/>
            <a:ext cx="4910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Correctif impératif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5047488"/>
            <a:ext cx="4910328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 backend ne déclare pas être derrière un proxy. En l'état, la limitation anti-force-brute verrait la même IP pour tous : un utilisateur en échec bloquerait tout le monde.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943600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6046012"/>
            <a:ext cx="50800" cy="435254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6126480"/>
            <a:ext cx="1044244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Les deux en-têtes à ne pas oublier côté proxy : « Host » (la gateway aiguille dessus) et « Upgrade/Connection » (sans eux, les pages s'affichent mais le temps réel reste figé).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937760" cy="4937760"/>
          </a:xfrm>
          <a:prstGeom prst="ellipse">
            <a:avLst/>
          </a:prstGeom>
          <a:solidFill>
            <a:srgbClr val="57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C52"/>
                </a:solidFill>
                <a:latin typeface="Calibri"/>
              </a:rPr>
              <a:t>SYNTHÈSE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Quatre décisions structurantes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3288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Un démon Docker par laboratoire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986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BAC4"/>
                </a:solidFill>
                <a:latin typeface="Calibri"/>
              </a:rPr>
              <a:t>Chaque labo a sa propre pile réseau : tous réutilisent les mêmes adresses internes sans collision,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BAC4"/>
                </a:solidFill>
                <a:latin typeface="Calibri"/>
              </a:rPr>
              <a:t>et sans modifier une ligne de la configuration des logiciels industriels.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667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844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Un réseau de laboratoires totalement fermé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50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BAC4"/>
                </a:solidFill>
                <a:latin typeface="Calibri"/>
              </a:rPr>
              <a:t>Ni base du portail, ni Internet. C'est la garantie principale de la plateforme — et la contrainte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BAC4"/>
                </a:solidFill>
                <a:latin typeface="Calibri"/>
              </a:rPr>
              <a:t>à laquelle toutes les autres briques ont dû se plier.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617720"/>
            <a:ext cx="457200" cy="45720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18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6360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Une authentification des composants sans serveur tiers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0176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BAC4"/>
                </a:solidFill>
                <a:latin typeface="Calibri"/>
              </a:rPr>
              <a:t>Un jeton signé par le portail, vérifié localement avec un secret dérivé par laboratoire.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BAC4"/>
                </a:solidFill>
                <a:latin typeface="Calibri"/>
              </a:rPr>
              <a:t>Zéro appel sortant, zéro serveur supplémentaire à exploiter.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69280"/>
            <a:ext cx="457200" cy="45720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698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68756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Une exposition réseau interchangeable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605332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BAC4"/>
                </a:solidFill>
                <a:latin typeface="Calibri"/>
              </a:rPr>
              <a:t>Le portail ne construit jamais d'URL. Passer aux sous-domaines et au HTTPS ne touchera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BAC4"/>
                </a:solidFill>
                <a:latin typeface="Calibri"/>
              </a:rPr>
              <a:t>ni le portail, ni le frontend, ni les laboratoires.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