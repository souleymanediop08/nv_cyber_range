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7A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3840480"/>
            <a:ext cx="4937760" cy="4937760"/>
          </a:xfrm>
          <a:prstGeom prst="ellipse">
            <a:avLst/>
          </a:prstGeom>
          <a:solidFill>
            <a:srgbClr val="57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9C52"/>
                </a:solidFill>
                <a:latin typeface="Calibri"/>
              </a:rPr>
              <a:t>CYBER RANGE INDUSTRIEL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Calibri"/>
              </a:rPr>
              <a:t>Talixman 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E8D8DF"/>
                </a:solidFill>
                <a:latin typeface="Calibri"/>
              </a:rPr>
              <a:t>Plateforme d'authentification et d'orchestration</a:t>
            </a:r>
          </a:p>
          <a:p>
            <a:pPr algn="l">
              <a:lnSpc>
                <a:spcPct val="130000"/>
              </a:lnSpc>
            </a:pPr>
            <a:r>
              <a:rPr sz="2100" b="0">
                <a:solidFill>
                  <a:srgbClr val="E8D8DF"/>
                </a:solidFill>
                <a:latin typeface="Calibri"/>
              </a:rPr>
              <a:t>de laboratoires de simulation industrielle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434840"/>
            <a:ext cx="2011680" cy="50800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C9B2BD"/>
                </a:solidFill>
                <a:latin typeface="Calibri"/>
              </a:rPr>
              <a:t>État d'avancement — architecture, technologies et fonctionnement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C9B2BD"/>
                </a:solidFill>
                <a:latin typeface="Calibri"/>
              </a:rPr>
              <a:t>Secteur pilote : Dispatching électrique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1B1F"/>
                </a:solidFill>
                <a:latin typeface="Calibri"/>
              </a:rPr>
              <a:t>La plateforme en bref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5F6B"/>
                </a:solidFill>
                <a:latin typeface="Calibri"/>
              </a:rPr>
              <a:t>Point d'entrée unique du cyber range : sans authentification, aucun accès aux simulations.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B1B1F"/>
                </a:solidFill>
                <a:latin typeface="Calibri"/>
              </a:rPr>
              <a:t>Le portail authentifie, applique les droits, et pilote pour chaque client un laboratoire industriel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B1B1F"/>
                </a:solidFill>
                <a:latin typeface="Calibri"/>
              </a:rPr>
              <a:t>complet — automates, supervision SCADA, réseaux segmentés — instancié à la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B640A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564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rôles applicatifs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12463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F6B"/>
                </a:solidFill>
                <a:latin typeface="Calibri"/>
              </a:rPr>
              <a:t>Superadmin · Admin · Invité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27432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6744" y="28803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B640A"/>
                </a:solidFill>
                <a:latin typeface="Calibri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34564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routes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3712463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F6B"/>
                </a:solidFill>
                <a:latin typeface="Calibri"/>
              </a:rPr>
              <a:t>portail + orchestrateur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27432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8803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B640A"/>
                </a:solidFill>
                <a:latin typeface="Calibri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4564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composants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712463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F6B"/>
                </a:solidFill>
                <a:latin typeface="Calibri"/>
              </a:rPr>
              <a:t>par simulation (profil core)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27432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28803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B640A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34564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labo par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3712463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F6B"/>
                </a:solidFill>
                <a:latin typeface="Calibri"/>
              </a:rPr>
              <a:t>isolé, jetable, reproductible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2628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796942"/>
            <a:ext cx="44450" cy="1150315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672584"/>
            <a:ext cx="5038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Ce que la plateforme garantit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001768"/>
            <a:ext cx="5038344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Authentification forte obligatoire : mot de passe + code TOTP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Cloisonnement strict par secteur et par rôle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Un laboratoire par client, sans interférence entre clients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Aucun accès direct à Docker pour l'utilisateur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526280"/>
            <a:ext cx="5212080" cy="169164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4796942"/>
            <a:ext cx="44450" cy="115031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4672584"/>
            <a:ext cx="4809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Périmètre actuel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5001768"/>
            <a:ext cx="4809744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Secteur Dispatching électrique — opérationnel de bout en bout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Secteurs Raffinerie et Ferroviaire — prévus, non démarrés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Déploiement de développement (sans nom de domaine ni TLS)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1B1F"/>
                </a:solidFill>
                <a:latin typeface="Calibri"/>
              </a:rPr>
              <a:t>Quatre briques, des responsabilités disjointes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5F6B"/>
                </a:solidFill>
                <a:latin typeface="Calibri"/>
              </a:rPr>
              <a:t>Chaque brique ignore le fonctionnement interne de la suivante — c'est ce qui rend le runtime remplaçable.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1965960"/>
            <a:ext cx="6035040" cy="658368"/>
          </a:xfrm>
          <a:prstGeom prst="roundRect">
            <a:avLst>
              <a:gd name="adj" fmla="val 12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04825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Navigateur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31343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CE4E8"/>
                </a:solidFill>
                <a:latin typeface="Calibri"/>
              </a:rPr>
              <a:t>Interface web du portail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691380" y="2660904"/>
            <a:ext cx="127000" cy="182880"/>
          </a:xfrm>
          <a:prstGeom prst="downArrow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37360" y="2843784"/>
            <a:ext cx="6035040" cy="658368"/>
          </a:xfrm>
          <a:prstGeom prst="roundRect">
            <a:avLst>
              <a:gd name="adj" fmla="val 12000"/>
            </a:avLst>
          </a:prstGeom>
          <a:solidFill>
            <a:srgbClr val="7A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9260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Portail —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191256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CE4E8"/>
                </a:solidFill>
                <a:latin typeface="Calibri"/>
              </a:rPr>
              <a:t>Identité · RBAC · propriété des labos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691380" y="3538728"/>
            <a:ext cx="127000" cy="182880"/>
          </a:xfrm>
          <a:prstGeom prst="downArrow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37360" y="3721608"/>
            <a:ext cx="6035040" cy="658368"/>
          </a:xfrm>
          <a:prstGeom prst="roundRect">
            <a:avLst>
              <a:gd name="adj" fmla="val 12000"/>
            </a:avLst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380390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Orchestrateur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0690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CE4E8"/>
                </a:solidFill>
                <a:latin typeface="Calibri"/>
              </a:rPr>
              <a:t>Cycle de vie · exposition réseau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691380" y="4416552"/>
            <a:ext cx="127000" cy="182880"/>
          </a:xfrm>
          <a:prstGeom prst="downArrow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737360" y="4599432"/>
            <a:ext cx="6035040" cy="658368"/>
          </a:xfrm>
          <a:prstGeom prst="roundRect">
            <a:avLst>
              <a:gd name="adj" fmla="val 12000"/>
            </a:avLst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46817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Runtime Docker-in-Docker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9469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CE4E8"/>
                </a:solidFill>
                <a:latin typeface="Calibri"/>
              </a:rPr>
              <a:t>Un démon Docker par laboratoire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4691380" y="5294376"/>
            <a:ext cx="127000" cy="182880"/>
          </a:xfrm>
          <a:prstGeom prst="downArrow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737360" y="5477256"/>
            <a:ext cx="6035040" cy="658368"/>
          </a:xfrm>
          <a:prstGeom prst="roundRect">
            <a:avLst>
              <a:gd name="adj" fmla="val 12000"/>
            </a:avLst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55595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Laboratoire industriel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8247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CE4E8"/>
                </a:solidFill>
                <a:latin typeface="Calibri"/>
              </a:rPr>
              <a:t>Automates · SCADA · routeurs L1/L2/L3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10312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▪  Le portail ne parle jamais à 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37744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Il appelle l'orchestrateur en REST, avec un jeton de service.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24612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▪  L'orchestrateur ignore les utilisateurs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52044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Il reçoit un identifiant de labo et un nom de modèle. Ni secteur, ni compte.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438912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▪  Le frontend ne construit aucune URL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66344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Il relaie les adresses renvoyées par l'API — d'où la portabilité.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STACK TECHNOLOGIQUE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1B1F"/>
                </a:solidFill>
                <a:latin typeface="Calibri"/>
              </a:rPr>
              <a:t>Frontend — application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5F6B"/>
                </a:solidFill>
                <a:latin typeface="Calibri"/>
              </a:rPr>
              <a:t>Application monopage, thème sombre et clair, entièrement typée.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67665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651760"/>
                <a:gridCol w="246888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Brique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Technologie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React 19.2 + TypeScript 6.0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Interface, en mode strict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Vite 8.1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Développement à chaud, build de production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Styles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TailwindCSS 4.3 (plugin Vite)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Jetons de design, thème clair/sombre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Données serveur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TanStack Query 5.10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Cache, sondage, invalidation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Navigation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React Router 7.18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Routes publiques et protégées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HTTP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Axios 1.18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Client API, en-tête anti-CSRF systématique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Icônes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lucide-react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Jeu d'icônes vectorielles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Qualité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oxlint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Analyse statique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1828800"/>
            <a:ext cx="3794760" cy="192024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2136038"/>
            <a:ext cx="44450" cy="1305763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73568" y="1975104"/>
            <a:ext cx="339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Bibliothèque de composants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2304288"/>
            <a:ext cx="339242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9 composants partagés : boutons, champs, cartes, badges,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boîtes de dialogue, notifications, squelettes de chargement,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états vides.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Aucun HTML brut stylé au cas par cas.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886200"/>
            <a:ext cx="3794760" cy="196596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4200753"/>
            <a:ext cx="44450" cy="133685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4032504"/>
            <a:ext cx="339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Accessibilité &amp; responsive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4361688"/>
            <a:ext cx="3392424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Libellés liés aux champs, focus visible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Menu mobile en tiroir sous 768 px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Tableaux larges défilables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Animations désactivables (reduced motion)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STACK TECHNOLOGIQUE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1B1F"/>
                </a:solidFill>
                <a:latin typeface="Calibri"/>
              </a:rPr>
              <a:t>Backend — API du portail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5F6B"/>
                </a:solidFill>
                <a:latin typeface="Calibri"/>
              </a:rPr>
              <a:t>Détient l'identité, les droits, la propriété des laboratoires. Aucune commande Docker.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67665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651760"/>
                <a:gridCol w="246888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Brique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Technologie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NestJS 11 (Node 20) + TypeScript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API REST modulaire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Base de données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PostgreSQL 16 via Prisma 6.19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Comptes, secteurs, services, labos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Cache &amp; sessions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Redis 7 (ioredis)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Sessions, verrous, compteurs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Mots de passe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Argon2id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Hachage résistant au matériel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Double facteur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otplib 12 + qrcode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TOTP compatible Google Authenticator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Nodemailer 9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Invitations, réinitialisations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Défense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helmet 8, @nestjs/throttler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En-têtes, limitation de débit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class-validator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Contrôle de toutes les entrées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1828800"/>
            <a:ext cx="3794760" cy="214884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2172614"/>
            <a:ext cx="44450" cy="1461211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73568" y="1975104"/>
            <a:ext cx="339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Modèle de données — 8 entités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2304288"/>
            <a:ext cx="3392424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Secteur · Service · Utilisateur · Laboratoire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Jeton d'activation · Jeton de réinitialisation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Codes de récupération · Journal d'audit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114800"/>
            <a:ext cx="3794760" cy="173736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4392777"/>
            <a:ext cx="44450" cy="11814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4261104"/>
            <a:ext cx="339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Principe structurant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4590288"/>
            <a:ext cx="3392424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Les routes sensibles sont en « /me » : la portée est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toujours déduite de la session, jamais d'un identifiant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envoyé par le client. Aucune surface d'accès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à la ressource d'autrui.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STACK TECHNOLOGIQUE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1B1F"/>
                </a:solidFill>
                <a:latin typeface="Calibri"/>
              </a:rPr>
              <a:t>Orchestrateur — middleware d'exécution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5F6B"/>
                </a:solidFill>
                <a:latin typeface="Calibri"/>
              </a:rPr>
              <a:t>Service dédié, sans base de données, seul détenteur de l'accès à Docker.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676656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651760"/>
                <a:gridCol w="246888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Brique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Technologie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NestJS 11 (Node 20)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API de contrôle interne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Planification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@nestjs/schedule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Nettoyage des labos inactifs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Proxy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http-proxy-middleware 2.0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Relais HTTP et WebSocket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État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Fichier JSON versionné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Pas de base : l'état tient en quelques lignes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Authentification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Jeton de service partagé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Un seul appelant légitime : le portail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38912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1B1F"/>
                </a:solidFill>
                <a:latin typeface="Calibri"/>
              </a:rPr>
              <a:t>Déployé en deux conteneurs issus de la même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5488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0118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BF2D31"/>
                </a:solidFill>
                <a:latin typeface="Calibri"/>
              </a:rPr>
              <a:t>Rôle « contrôle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93792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Détient le socket Docker.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Ne publie aucun 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475488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90118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B5C8A"/>
                </a:solidFill>
                <a:latin typeface="Calibri"/>
              </a:rPr>
              <a:t>Rôle « passerelle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193792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Seule surface publique.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Aucun accès à Docker.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828800"/>
            <a:ext cx="3794760" cy="214884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2172614"/>
            <a:ext cx="44450" cy="1461211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1975104"/>
            <a:ext cx="339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Pourquoi cette séparation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304288"/>
            <a:ext cx="3392424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Un processus unique cumulerait « équivalent root sur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la machine hôte » et « exposition publique ».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Une faille dans la chaîne de proxy donnerait alors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le contrôle de l'hôte. La coupure supprime ce cumul.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114800"/>
            <a:ext cx="3794760" cy="201168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4436668"/>
            <a:ext cx="44450" cy="136794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4261104"/>
            <a:ext cx="339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Runtime interchangeable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4590288"/>
            <a:ext cx="3392424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Le runtime est injecté derrière une interface unique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(créer, démarrer, arrêter, suspendre, détruire, inspecter).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Changer de technologie d'isolation ne touchera ni le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portail, ni le frontend, ni les laboratoires.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STACK TECHNOLOGIQUE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1B1F"/>
                </a:solidFill>
                <a:latin typeface="Calibri"/>
              </a:rPr>
              <a:t>Docker-in-Docker — le runtime des laboratoires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5F6B"/>
                </a:solidFill>
                <a:latin typeface="Calibri"/>
              </a:rPr>
              <a:t>Chaque laboratoire embarque son propre démon Docker, donc sa propre pile réseau.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21408"/>
            <a:ext cx="44450" cy="1243584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75104"/>
            <a:ext cx="4992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Image de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04288"/>
            <a:ext cx="4992624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docker:28.5-dind-rootless — le démon interne tourne sous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un utilisateur non privilégié, dans un espace de noms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utilisateur dédié.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Une évasion depuis un laboratoire retombe sur un compte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sans privilège de l'hôte, pas sur root.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138574"/>
            <a:ext cx="44450" cy="1461211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941064"/>
            <a:ext cx="4992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Pourquoi un démon par laboratoire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270248"/>
            <a:ext cx="4992624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Tous les laboratoires réutilisent exactement les mêmes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adresses internes (192.168.10 / .20 / .30), figées dans la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configuration des automates et de la supervision.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Un démon dédié fait vivre ces réseaux à l'intérieur du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conteneur : N laboratoires coexistent sans collision,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et sans modifier une seule ligne de leur configuration.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1B1F"/>
                </a:solidFill>
                <a:latin typeface="Calibri"/>
              </a:rPr>
              <a:t>Chaîne de démarrage d'un laboratoire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240280"/>
            <a:ext cx="384048" cy="384048"/>
          </a:xfrm>
          <a:prstGeom prst="ellipse">
            <a:avLst/>
          </a:prstGeom>
          <a:solidFill>
            <a:srgbClr val="2C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322576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29514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Démarrage du démon Docker interne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862072"/>
            <a:ext cx="384048" cy="384048"/>
          </a:xfrm>
          <a:prstGeom prst="ellipse">
            <a:avLst/>
          </a:prstGeom>
          <a:solidFill>
            <a:srgbClr val="2C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94436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91693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Chargement des images depuis des archives locales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3483864"/>
            <a:ext cx="384048" cy="384048"/>
          </a:xfrm>
          <a:prstGeom prst="ellipse">
            <a:avLst/>
          </a:prstGeom>
          <a:solidFill>
            <a:srgbClr val="2C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6616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53872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Lancement de la composition du laboratoire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4105656"/>
            <a:ext cx="384048" cy="384048"/>
          </a:xfrm>
          <a:prstGeom prst="ellipse">
            <a:avLst/>
          </a:prstGeom>
          <a:solidFill>
            <a:srgbClr val="2C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18795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1605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Création des réseaux L1 / L2 / L3 et des adresses fixes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727448"/>
            <a:ext cx="384048" cy="384048"/>
          </a:xfrm>
          <a:prstGeom prst="ellipse">
            <a:avLst/>
          </a:prstGeom>
          <a:solidFill>
            <a:srgbClr val="2C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80974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78231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Composants prêts, exposés via la passerelle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440680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5565038"/>
            <a:ext cx="44450" cy="528523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5586984"/>
            <a:ext cx="4718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Aucune construction d'image au démarrage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5916168"/>
            <a:ext cx="4718304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Les images sont fabriquées une fois, hors ligne, puis embarquées : le lancement ne dépend d'aucun accès Internet.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FONCTIONNALITÉS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1B1F"/>
                </a:solidFill>
                <a:latin typeface="Calibri"/>
              </a:rPr>
              <a:t>Rôles et périmètres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5F6B"/>
                </a:solidFill>
                <a:latin typeface="Calibri"/>
              </a:rPr>
              <a:t>Trois rôles, chacun rattaché à un secteur — sauf le superadmin, qui les administre tous.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834640"/>
                <a:gridCol w="2834640"/>
                <a:gridCol w="219456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Superadmin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Admin (client)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Invité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Créer des comptes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Superadmin + Admin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Invités de son secteur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Gérer les secteurs et services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Oui (création, modification, suppression)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Voir et supprimer ses invités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Tous les invités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Les siens uniquement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Piloter un laboratoire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Démarrer, arrêter, suspendre, détruire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Accéder aux simulations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Accès complet (scénarios)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Lecture seule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Changer son mot de passe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Oui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Oui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Oui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34924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495544"/>
            <a:ext cx="44450" cy="621792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495544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Héritage de l'invité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824728"/>
            <a:ext cx="49469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Un invité n'a pas de laboratoire propre : il consulte celui de l'admin qui l'a créé, en lecture seule stricte.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534924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5495544"/>
            <a:ext cx="44450" cy="621792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5495544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Suppression en cascade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824728"/>
            <a:ext cx="49469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Supprimer un admin supprime ses invités et détruit son laboratoire — aucun environnement orphelin ne survit.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FONCTIONNALITÉS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1B1F"/>
                </a:solidFill>
                <a:latin typeface="Calibri"/>
              </a:rPr>
              <a:t>Authentification et cycle de vie des comptes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5F6B"/>
                </a:solidFill>
                <a:latin typeface="Calibri"/>
              </a:rPr>
              <a:t>Aucune inscription publique : tout compte est créé par un administrateur.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697480" cy="2148840"/>
          </a:xfrm>
          <a:prstGeom prst="roundRect">
            <a:avLst>
              <a:gd name="adj" fmla="val 7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103120"/>
            <a:ext cx="402336" cy="402336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8541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Invitation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62656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L'admin crée le compte.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Un lien d'activation à usage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unique part par email.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64992" y="2935732"/>
            <a:ext cx="292608" cy="127000"/>
          </a:xfrm>
          <a:prstGeom prst="rightArrow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38144" y="1920240"/>
            <a:ext cx="2697480" cy="2148840"/>
          </a:xfrm>
          <a:prstGeom prst="roundRect">
            <a:avLst>
              <a:gd name="adj" fmla="val 7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66744" y="2103120"/>
            <a:ext cx="402336" cy="402336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218541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6517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Activation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2962656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L'utilisateur choisit son mot de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passe et scanne un QR code.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Des codes de secours sont remis.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163056" y="2935732"/>
            <a:ext cx="292608" cy="127000"/>
          </a:xfrm>
          <a:prstGeom prst="rightArrow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6208" y="1920240"/>
            <a:ext cx="2697480" cy="2148840"/>
          </a:xfrm>
          <a:prstGeom prst="roundRect">
            <a:avLst>
              <a:gd name="adj" fmla="val 7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64808" y="2103120"/>
            <a:ext cx="402336" cy="402336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218541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6517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Connexion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962656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Mot de passe, puis code à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6 chiffres. Aucun accès sans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les deux facteurs.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961120" y="2935732"/>
            <a:ext cx="292608" cy="127000"/>
          </a:xfrm>
          <a:prstGeom prst="rightArrow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34272" y="1920240"/>
            <a:ext cx="2697480" cy="2148840"/>
          </a:xfrm>
          <a:prstGeom prst="roundRect">
            <a:avLst>
              <a:gd name="adj" fmla="val 7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62872" y="2103120"/>
            <a:ext cx="402336" cy="402336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2872" y="218541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26517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Mot de passe oublié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2962656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Lien par email, valable 1 h.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Le code à 6 chiffres reste exigé,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les sessions sont révoquées.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3434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1F"/>
                </a:solidFill>
                <a:latin typeface="Calibri"/>
              </a:rPr>
              <a:t>Mesures de protection en 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754880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1B1F"/>
                </a:solidFill>
                <a:latin typeface="Calibri"/>
              </a:rPr>
              <a:t>▪  Secret du second facteur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4992624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Chiffré en base (AES-256-GCM), jamais stocké ni journalisé en clair.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4754880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1B1F"/>
                </a:solidFill>
                <a:latin typeface="Calibri"/>
              </a:rPr>
              <a:t>▪  Blocage après échecs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992624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5 tentatives ratées → verrouillage 15 minutes, sur le mot de passe comme sur le code.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468112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1B1F"/>
                </a:solidFill>
                <a:latin typeface="Calibri"/>
              </a:rPr>
              <a:t>▪  Sessions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705856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Cookie inaccessible au JavaScript, durée de vie 12 h, stockage côté serveur.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5468112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1B1F"/>
                </a:solidFill>
                <a:latin typeface="Calibri"/>
              </a:rPr>
              <a:t>▪  Anti-abus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5705856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Limitation de débit globale et renforcée sur l'authentification ; garde anti-CSRF.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FONCTIONNEMENT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1B1F"/>
                </a:solidFill>
                <a:latin typeface="Calibri"/>
              </a:rPr>
              <a:t>Création d'un laboratoire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5F6B"/>
                </a:solidFill>
                <a:latin typeface="Calibri"/>
              </a:rPr>
              <a:t>De l'appui sur « Démarrer » à une simulation industrielle complète et joignable.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965960" cy="786384"/>
          </a:xfrm>
          <a:prstGeom prst="roundRect">
            <a:avLst>
              <a:gd name="adj" fmla="val 12000"/>
            </a:avLst>
          </a:prstGeom>
          <a:solidFill>
            <a:srgbClr val="7A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30551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Portail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65959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B1B1F"/>
                </a:solidFill>
                <a:latin typeface="Calibri"/>
              </a:rPr>
              <a:t>L'admin demande le démarrage. Le portail détermine le modèle de son secteur et calcule un identifiant de laboratoire dérivé de son compte.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564132" y="2679191"/>
            <a:ext cx="127000" cy="128016"/>
          </a:xfrm>
          <a:prstGeom prst="downArrow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807207"/>
            <a:ext cx="1965960" cy="786384"/>
          </a:xfrm>
          <a:prstGeom prst="roundRect">
            <a:avLst>
              <a:gd name="adj" fmla="val 12000"/>
            </a:avLst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63239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Orchestrateur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898647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B1B1F"/>
                </a:solidFill>
                <a:latin typeface="Calibri"/>
              </a:rPr>
              <a:t>Réserve les points d'entrée réseau, puis crée le conteneur du laboratoire : quotas, réseau isolé, volume dédié, journalisation bornée.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564132" y="3611879"/>
            <a:ext cx="127000" cy="128016"/>
          </a:xfrm>
          <a:prstGeom prst="downArrow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739895"/>
            <a:ext cx="1965960" cy="786384"/>
          </a:xfrm>
          <a:prstGeom prst="roundRect">
            <a:avLst>
              <a:gd name="adj" fmla="val 12000"/>
            </a:avLst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95927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Laboratoire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831335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B1B1F"/>
                </a:solidFill>
                <a:latin typeface="Calibri"/>
              </a:rPr>
              <a:t>Démarre son démon Docker, charge les images embarquées, lance la composition industrielle et construit les réseaux L1/L2/L3.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564132" y="4544567"/>
            <a:ext cx="127000" cy="128016"/>
          </a:xfrm>
          <a:prstGeom prst="downArrow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672583"/>
            <a:ext cx="1965960" cy="786384"/>
          </a:xfrm>
          <a:prstGeom prst="roundRect">
            <a:avLst>
              <a:gd name="adj" fmla="val 12000"/>
            </a:avLst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28615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Passerelle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764023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B1B1F"/>
                </a:solidFill>
                <a:latin typeface="Calibri"/>
              </a:rPr>
              <a:t>Ouvre un point d'entrée par composant et relaie le trafic web et temps réel.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564132" y="5477255"/>
            <a:ext cx="127000" cy="128016"/>
          </a:xfrm>
          <a:prstGeom prst="downArrow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605271"/>
            <a:ext cx="1965960" cy="786384"/>
          </a:xfrm>
          <a:prstGeom prst="roundRect">
            <a:avLst>
              <a:gd name="adj" fmla="val 12000"/>
            </a:avLst>
          </a:prstGeom>
          <a:solidFill>
            <a:srgbClr val="7A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861303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Portail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696711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B1B1F"/>
                </a:solidFill>
                <a:latin typeface="Calibri"/>
              </a:rPr>
              <a:t>Suit l'avancement et bascule l'interface : les accès aux composants deviennent actifs.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1874519"/>
            <a:ext cx="2880360" cy="201168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0" y="2196387"/>
            <a:ext cx="44450" cy="136794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7968" y="2020823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Nommage déterministe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2350007"/>
            <a:ext cx="2478024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L'identifiant du laboratoire est dérivé du compte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propriétaire par empreinte cryptographique.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Un admin = un laboratoire, toujours le même,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sans identifiant transmis par le client.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4023360"/>
            <a:ext cx="2880360" cy="205740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86800" y="4352544"/>
            <a:ext cx="44450" cy="139903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8" y="4169664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Opération idempotente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4498848"/>
            <a:ext cx="2478024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Un double clic ne crée pas deux laboratoires :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la création est protégée par un verrou.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En cas d'échec, tout est nettoyé — aucun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environnement à moitié créé ne subsiste.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FONCTIONNEMENT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1B1F"/>
                </a:solidFill>
                <a:latin typeface="Calibri"/>
              </a:rPr>
              <a:t>Cycle de vie d'un laboratoire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5F6B"/>
                </a:solidFill>
                <a:latin typeface="Calibri"/>
              </a:rPr>
              <a:t>Sept états, pilotés par l'admin ou par le nettoyage automatique.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8A8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Absent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5059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Aucun environnement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33472" y="2377948"/>
            <a:ext cx="201168" cy="127000"/>
          </a:xfrm>
          <a:prstGeom prst="rightArrow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0360" y="19659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FF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157984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Création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45059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Conteneur en préparation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73752" y="2377948"/>
            <a:ext cx="201168" cy="127000"/>
          </a:xfrm>
          <a:prstGeom prst="rightArrow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19659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157984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Démarrage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45059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Composants en cours de lancement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14032" y="2377948"/>
            <a:ext cx="201168" cy="127000"/>
          </a:xfrm>
          <a:prstGeom prst="rightArrow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60920" y="19659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2157984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En exécution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45059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Simulation utilisable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54312" y="2377948"/>
            <a:ext cx="201168" cy="127000"/>
          </a:xfrm>
          <a:prstGeom prst="rightArrow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0" y="19659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157984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Suspendu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45059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Gelé, mémoire conservée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342900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3621024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Arrêt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91363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Extinction en cours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342900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6B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621024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Arrêté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391363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Conservé, redémarrable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60920" y="342900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3621024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Erreur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391363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Incident détecté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7091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1F"/>
                </a:solidFill>
                <a:latin typeface="Calibri"/>
              </a:rPr>
              <a:t>Actions disponibles et effets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40080" y="5120640"/>
          <a:ext cx="1088136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393192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Effet sur la simulation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Ressources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Suspendre / Reprendre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Gèle puis reprend l'exécution à l'identique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Mémoire conservée, processeur libéré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Arrêter / Redémarrer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Éteint les composants, conserve les données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Mémoire et processeur libérés, disque conservé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Détruire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Supprime l'environnement complet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Tout est libéré : disque, réseaux, points d'entrée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FONCTIONNEMENT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1B1F"/>
                </a:solidFill>
                <a:latin typeface="Calibri"/>
              </a:rPr>
              <a:t>Nettoyage automatique des laboratoires inactifs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5F6B"/>
                </a:solidFill>
                <a:latin typeface="Calibri"/>
              </a:rPr>
              <a:t>Une simulation oubliée ne doit pas consommer les ressources de la machine indéfiniment.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240280"/>
            <a:ext cx="10058400" cy="38100"/>
          </a:xfrm>
          <a:prstGeom prst="rect">
            <a:avLst/>
          </a:prstGeom>
          <a:solidFill>
            <a:srgbClr val="E6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103120"/>
            <a:ext cx="310896" cy="310896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B1F"/>
                </a:solidFill>
                <a:latin typeface="Calibri"/>
              </a:rPr>
              <a:t>Dernière consultation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L'horloge repart à zéro à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chaque fois qu'un utilisateur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affiche son laboratoire.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2103120"/>
            <a:ext cx="310896" cy="310896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6060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B1F"/>
                </a:solidFill>
                <a:latin typeface="Calibri"/>
              </a:rPr>
              <a:t>Après 60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260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Arrêt automatique.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Les données sont conservées,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le redémarrage est immédiat.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2103120"/>
            <a:ext cx="310896" cy="310896"/>
          </a:xfrm>
          <a:prstGeom prst="ellipse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6060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B1F"/>
                </a:solidFill>
                <a:latin typeface="Calibri"/>
              </a:rPr>
              <a:t>Après 24 heures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Destruction automatique.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Conteneur, volume et points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d'entrée sont libérés.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297680"/>
            <a:ext cx="4846320" cy="173736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4575657"/>
            <a:ext cx="44450" cy="11814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4443984"/>
            <a:ext cx="4443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Un laboratoire consulté n'est jamais fauché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773168"/>
            <a:ext cx="4443984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Le compteur d'inactivité est réinitialisé par la consultation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elle-même, pas par une action explicite.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Un utilisateur qui travaille sans rien cliquer ne perd donc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jamais son environnement.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297680"/>
            <a:ext cx="4846320" cy="173736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575657"/>
            <a:ext cx="44450" cy="1181404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443984"/>
            <a:ext cx="4443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Seuils configurables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773168"/>
            <a:ext cx="4443984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Les deux délais sont des paramètres de déploiement,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ajustables sans modification de code.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Chaque décision de nettoyage est journalisée avec son motif.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FONCTIONNEMENT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1B1F"/>
                </a:solidFill>
                <a:latin typeface="Calibri"/>
              </a:rPr>
              <a:t>Accès aux composants d'une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5F6B"/>
                </a:solidFill>
                <a:latin typeface="Calibri"/>
              </a:rPr>
              <a:t>Une adresse dédiée par composant, servie exclusivement par la passerelle.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3353"/>
            <a:ext cx="44450" cy="133685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75104"/>
            <a:ext cx="4992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Comment l'utilisateur accède à un composant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04288"/>
            <a:ext cx="4992624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1.  Il clique sur une carte de service dans le portail.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2.  Le portail demande l'adresse à l'orchestrateur.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3.  La passerelle relaie le trafic vers le composant,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     y compris le temps réel (WebSocket).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Aucun port de laboratoire n'est publié sur la machine hôte.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275734"/>
            <a:ext cx="44450" cy="1461211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078224"/>
            <a:ext cx="4992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Pourquoi une adresse par composant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407408"/>
            <a:ext cx="4992624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Les logiciels industriels embarqués (supervision, automates,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vue 3D) construisent tous leurs liens depuis la racine du site.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Les regrouper derrière une seule adresse avec des préfixes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les empêcherait de charger. Leur donner à chacun sa propre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adresse évite de modifier ces logiciels — condition posée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dès le départ.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1B1F"/>
                </a:solidFill>
                <a:latin typeface="Calibri"/>
              </a:rPr>
              <a:t>Une conception pensée pour la mise en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Le portail ne connaît jamais les ports : il relaie les adresses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renvoyées par l'API de l'orchestrateur, telles quelles.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017520"/>
            <a:ext cx="5120640" cy="1051560"/>
          </a:xfrm>
          <a:prstGeom prst="roundRect">
            <a:avLst>
              <a:gd name="adj" fmla="val 8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16382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Aujourd'hui — développement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45643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Un port dédié par composant, sur l'adresse du serveur.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897620" y="4160520"/>
            <a:ext cx="127000" cy="228600"/>
          </a:xfrm>
          <a:prstGeom prst="downArrow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4526280"/>
            <a:ext cx="5120640" cy="1051560"/>
          </a:xfrm>
          <a:prstGeom prst="roundRect">
            <a:avLst>
              <a:gd name="adj" fmla="val 8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67258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Demain — 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96519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Un sous-domaine par composant, en HTTPS.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6692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5757062"/>
            <a:ext cx="44450" cy="373075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5815584"/>
            <a:ext cx="4718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" b="1">
                <a:solidFill>
                  <a:srgbClr val="1B1B1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6144768"/>
            <a:ext cx="4718304" cy="-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La bascule ne touchera ni le portail, ni les logiciels du laboratoire.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RESSOURCES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1B1F"/>
                </a:solidFill>
                <a:latin typeface="Calibri"/>
              </a:rPr>
              <a:t>Consommation par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5F6B"/>
                </a:solidFill>
                <a:latin typeface="Calibri"/>
              </a:rPr>
              <a:t>Mesures relevées sur une simulation complète du secteur Dispatching, 9 composants actifs.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2651760" cy="50800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B640A"/>
                </a:solidFill>
                <a:latin typeface="Calibri"/>
              </a:rPr>
              <a:t>949 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700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Mémoire vive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443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F6B"/>
                </a:solidFill>
                <a:latin typeface="Calibri"/>
              </a:rPr>
              <a:t>sur 6 Go alloués (16 %)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874519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8144" y="1874519"/>
            <a:ext cx="2651760" cy="508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210312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8E5A"/>
                </a:solidFill>
                <a:latin typeface="Calibri"/>
              </a:rPr>
              <a:t>7,6 %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26700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Processeur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9443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F6B"/>
                </a:solidFill>
                <a:latin typeface="Calibri"/>
              </a:rPr>
              <a:t>sur 4 cœurs alloués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1874519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1874519"/>
            <a:ext cx="2651760" cy="508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10312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B5C8A"/>
                </a:solidFill>
                <a:latin typeface="Calibri"/>
              </a:rPr>
              <a:t>415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6700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Processus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9443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F6B"/>
                </a:solidFill>
                <a:latin typeface="Calibri"/>
              </a:rPr>
              <a:t>sur 4 096 autorisés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34272" y="1874519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34272" y="1874519"/>
            <a:ext cx="2651760" cy="50800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210312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F2D31"/>
                </a:solidFill>
                <a:latin typeface="Calibri"/>
              </a:rPr>
              <a:t>4,5 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6700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Disque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29443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F6B"/>
                </a:solidFill>
                <a:latin typeface="Calibri"/>
              </a:rPr>
              <a:t>volume dédié par laboratoire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6576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1F"/>
                </a:solidFill>
                <a:latin typeface="Calibri"/>
              </a:rPr>
              <a:t>Garde-fous et capacité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40080" y="406908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011680"/>
                <a:gridCol w="52120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Élément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Valeur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Commentaire</a:t>
                      </a:r>
                    </a:p>
                  </a:txBody>
                  <a:tcPr marL="109728" marR="73152" anchor="ctr">
                    <a:solidFill>
                      <a:srgbClr val="2C0F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Plafond mémoire par laboratoire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6 Go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Imposé au conteneur : un labo ne peut pas saturer la machine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Plafond processeur par laboratoire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4 cœurs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Idem, appliqué par le noyau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Plafond de processus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4 096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Protection contre l'emballement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Journalisation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10 Mo × 3 fichiers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Bornée, pas de saturation du disque par les logs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Image de laboratoire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5,1 Go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Partagée par tous les laboratoires, stockée une seule fois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Capacité simultanée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≈ 9 laboratoires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B1F"/>
                          </a:solidFill>
                          <a:latin typeface="Calibri"/>
                        </a:rPr>
                        <a:t>Limite actuelle des points d'entrée réseau (100 disponibles)</a:t>
                      </a:r>
                    </a:p>
                  </a:txBody>
                  <a:tcPr marL="109728" marR="73152" anchor="ctr">
                    <a:solidFill>
                      <a:srgbClr val="F7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SÉCURITÉ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1B1F"/>
                </a:solidFill>
                <a:latin typeface="Calibri"/>
              </a:rPr>
              <a:t>Isolation et durcissement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5F6B"/>
                </a:solidFill>
                <a:latin typeface="Calibri"/>
              </a:rPr>
              <a:t>Le laboratoire est l'environnement le moins fiable de la plateforme : il est traité comme tel.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57800" cy="1280160"/>
          </a:xfrm>
          <a:prstGeom prst="roundRect">
            <a:avLst>
              <a:gd name="adj" fmla="val 7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75687"/>
            <a:ext cx="44450" cy="868680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39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Réseau des laboratoires cloisonné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86583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Les laboratoires sont sur un réseau dédié, sans accès à la base de données ni au cache du portail, et sans sortie Internet.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257800" cy="1280160"/>
          </a:xfrm>
          <a:prstGeom prst="roundRect">
            <a:avLst>
              <a:gd name="adj" fmla="val 7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75687"/>
            <a:ext cx="44450" cy="868680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5739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Aucun port exposé sur l'hôte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86583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Les composants ne sont joignables que par la passerelle. Rien n'est publié directement sur la machine.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37559"/>
            <a:ext cx="5257800" cy="1280160"/>
          </a:xfrm>
          <a:prstGeom prst="roundRect">
            <a:avLst>
              <a:gd name="adj" fmla="val 7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38727"/>
            <a:ext cx="44450" cy="868680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2043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Aucun accès à Docker depuis un labo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49623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Le démon de la machine hôte n'est jamais monté dans un laboratoire.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337559"/>
            <a:ext cx="5257800" cy="1280160"/>
          </a:xfrm>
          <a:prstGeom prst="roundRect">
            <a:avLst>
              <a:gd name="adj" fmla="val 7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538727"/>
            <a:ext cx="44450" cy="8686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52043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Exécution sans privilège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849623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Le démon interne tourne sous un compte non privilégié dans un espace de noms dédié.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00599"/>
            <a:ext cx="5257800" cy="1280160"/>
          </a:xfrm>
          <a:prstGeom prst="roundRect">
            <a:avLst>
              <a:gd name="adj" fmla="val 7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001767"/>
            <a:ext cx="44450" cy="8686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98347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Quotas systématiques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12663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Mémoire, processeur, processus et journaux sont bornés pour chaque laboratoire.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800599"/>
            <a:ext cx="5257800" cy="1280160"/>
          </a:xfrm>
          <a:prstGeom prst="roundRect">
            <a:avLst>
              <a:gd name="adj" fmla="val 7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5001767"/>
            <a:ext cx="44450" cy="86868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98347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1B1F"/>
                </a:solidFill>
                <a:latin typeface="Calibri"/>
              </a:rPr>
              <a:t>Pas de fuite de ressources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312663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Volumes nommés et étiquetés, supprimés avec le laboratoire.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608076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6171468"/>
            <a:ext cx="44450" cy="385511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227064"/>
            <a:ext cx="10479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" b="1">
                <a:solidFill>
                  <a:srgbClr val="1B1B1F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6556248"/>
            <a:ext cx="10479024" cy="-36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Limite assumée : le confinement fin ne s'applique pas au conteneur de laboratoire lui-même (son démon interne exige des privilèges de montage), mais bien aux composants qu'il exécute.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LE LABORATOIRE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1B1F"/>
                </a:solidFill>
                <a:latin typeface="Calibri"/>
              </a:rPr>
              <a:t>Secteur Dispatching électrique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5F6B"/>
                </a:solidFill>
                <a:latin typeface="Calibri"/>
              </a:rPr>
              <a:t>Trois zones réseau routées, reproduisant la segmentation d'une installation réelle.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474720" cy="502920"/>
          </a:xfrm>
          <a:prstGeom prst="roundRect">
            <a:avLst>
              <a:gd name="adj" fmla="val 28000"/>
            </a:avLst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025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Zone L1 — Poste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8716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B5C8A"/>
                </a:solidFill>
                <a:latin typeface="Consolas"/>
              </a:rPr>
              <a:t>192.168.10.0/24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8163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Automate de poste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272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Supervision locale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74519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1874519"/>
            <a:ext cx="3474720" cy="502920"/>
          </a:xfrm>
          <a:prstGeom prst="roundRect">
            <a:avLst>
              <a:gd name="adj" fmla="val 2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20025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Zone L2 — Poste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48716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8E5A"/>
                </a:solidFill>
                <a:latin typeface="Consolas"/>
              </a:rPr>
              <a:t>192.168.20.0/24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8163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Automate de poste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1272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Supervision locale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43814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Vue 3D temps réel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874519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1874519"/>
            <a:ext cx="3474720" cy="502920"/>
          </a:xfrm>
          <a:prstGeom prst="roundRect">
            <a:avLst>
              <a:gd name="adj" fmla="val 28000"/>
            </a:avLst>
          </a:prstGeom>
          <a:solidFill>
            <a:srgbClr val="7A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20025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Zone L3 — Centre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48716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3248"/>
                </a:solidFill>
                <a:latin typeface="Consolas"/>
              </a:rPr>
              <a:t>192.168.30.0/24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8163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Supervision centrale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31272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Vue consolidée des 2 postes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3434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B640A"/>
                </a:solidFill>
                <a:latin typeface="Calibri"/>
              </a:rPr>
              <a:t>Routeurs inter-zones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5488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981651"/>
            <a:ext cx="44450" cy="963777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901184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Ce que la simulation permet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230368"/>
            <a:ext cx="4946904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Supervision temps réel des deux postes depuis le centre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Pilotage des automates (rôle Admin)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Consultation en lecture seule (rôle Invité)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Trafic industriel réel entre zones routées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475488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4981651"/>
            <a:ext cx="44450" cy="963777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4901184"/>
            <a:ext cx="4946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Trois niveaux de déploiement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5230368"/>
            <a:ext cx="4946904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Essai — les deux postes seuls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Standard — postes, centre et routeurs (en service)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•  Complet — ajoute poste d'ingénierie, sonde et machine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    d'attaque pour les scénarios offensifs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1B1F"/>
                </a:solidFill>
                <a:latin typeface="Calibri"/>
              </a:rPr>
              <a:t>Où en sommes-nous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5F6B"/>
                </a:solidFill>
                <a:latin typeface="Calibri"/>
              </a:rPr>
              <a:t>La chaîne complète fonctionne de bout en bout sur le secteur pilote.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486400" cy="4206240"/>
          </a:xfrm>
          <a:prstGeom prst="roundRect">
            <a:avLst>
              <a:gd name="adj" fmla="val 5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8E5A"/>
                </a:solidFill>
                <a:latin typeface="Calibri"/>
              </a:rPr>
              <a:t>Opérationnel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32888"/>
            <a:ext cx="146304" cy="14630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487168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Authentification à deux facteurs, de l'invitation à la connexion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962656"/>
            <a:ext cx="146304" cy="14630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916936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Réinitialisation de mot de passe en libre-service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392424"/>
            <a:ext cx="146304" cy="14630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346704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Gestion des comptes, secteurs et services par rôle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822192"/>
            <a:ext cx="146304" cy="14630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77647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Création, pilotage et destruction des laboratoires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251960"/>
            <a:ext cx="146304" cy="14630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20624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Accès web aux composants industriels via la passerelle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681728"/>
            <a:ext cx="146304" cy="14630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4636008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Nettoyage automatique des environnements inactifs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111496"/>
            <a:ext cx="146304" cy="14630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5065776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Isolation réseau et quotas de ressources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541264"/>
            <a:ext cx="146304" cy="14630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5495544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B1B1F"/>
                </a:solidFill>
                <a:latin typeface="Calibri"/>
              </a:rPr>
              <a:t>Interface complète, responsive, thème clair et sombre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828800"/>
            <a:ext cx="51206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0299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B640A"/>
                </a:solidFill>
                <a:latin typeface="Calibri"/>
              </a:rPr>
              <a:t>Prochaines étapes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2569464"/>
            <a:ext cx="146304" cy="146304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7728" y="251460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Chiffrement des accès (HTTPS)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278892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Nécessite un nom de domaine — prérequis à toute mise en service</a:t>
            </a:r>
          </a:p>
        </p:txBody>
      </p:sp>
      <p:sp>
        <p:nvSpPr>
          <p:cNvPr id="30" name="Oval 29"/>
          <p:cNvSpPr/>
          <p:nvPr/>
        </p:nvSpPr>
        <p:spPr>
          <a:xfrm>
            <a:off x="6675120" y="3502152"/>
            <a:ext cx="146304" cy="146304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344728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Tests automatisés de bout en bout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3721608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Et chaîne d'intégration continue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4434840"/>
            <a:ext cx="146304" cy="146304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7728" y="4379976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Secteurs Raffinerie et Ferroviaire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4654296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Le modèle Dispatching sert de gabarit</a:t>
            </a:r>
          </a:p>
        </p:txBody>
      </p:sp>
      <p:sp>
        <p:nvSpPr>
          <p:cNvPr id="36" name="Oval 35"/>
          <p:cNvSpPr/>
          <p:nvPr/>
        </p:nvSpPr>
        <p:spPr>
          <a:xfrm>
            <a:off x="6675120" y="5367528"/>
            <a:ext cx="146304" cy="146304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5312664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1B1F"/>
                </a:solidFill>
                <a:latin typeface="Calibri"/>
              </a:rPr>
              <a:t>Montée en charge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5586984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Au-delà de 9 laboratoires simultanés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7A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3840480"/>
            <a:ext cx="4937760" cy="4937760"/>
          </a:xfrm>
          <a:prstGeom prst="ellipse">
            <a:avLst/>
          </a:prstGeom>
          <a:solidFill>
            <a:srgbClr val="57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C52"/>
                </a:solidFill>
                <a:latin typeface="Calibri"/>
              </a:rPr>
              <a:t>CE QU'IL FAUT RETENIR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Trois choix structurants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514600"/>
            <a:ext cx="457200" cy="457200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3288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Un environnement par client, jetable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92608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FBAC4"/>
                </a:solidFill>
                <a:latin typeface="Calibri"/>
              </a:rPr>
              <a:t>Chaque admin dispose d'un laboratoire complet, isolé des autres, recréable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FBAC4"/>
                </a:solidFill>
                <a:latin typeface="Calibri"/>
              </a:rPr>
              <a:t>à l'identique en quelques minutes. Un incident dans une simulation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FBAC4"/>
                </a:solidFill>
                <a:latin typeface="Calibri"/>
              </a:rPr>
              <a:t>n'atteint jamais les autres clients ni la plateforme.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813048"/>
            <a:ext cx="457200" cy="457200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1363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831336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Les logiciels industriels ne sont pas modifiés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224528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FBAC4"/>
                </a:solidFill>
                <a:latin typeface="Calibri"/>
              </a:rPr>
              <a:t>Supervision, automates et vue 3D tournent tels quels, dans leur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FBAC4"/>
                </a:solidFill>
                <a:latin typeface="Calibri"/>
              </a:rPr>
              <a:t>configuration d'origine. La plateforme s'adapte au laboratoire,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FBAC4"/>
                </a:solidFill>
                <a:latin typeface="Calibri"/>
              </a:rPr>
              <a:t>jamais l'inverse — la fidélité de la simulation est préservée.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12978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Une architecture prête pour la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522976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FBAC4"/>
                </a:solidFill>
                <a:latin typeface="Calibri"/>
              </a:rPr>
              <a:t>Runtime d'exécution et mode d'exposition réseau sont tous deux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FBAC4"/>
                </a:solidFill>
                <a:latin typeface="Calibri"/>
              </a:rPr>
              <a:t>interchangeables derrière une interface stable. Passer en production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FBAC4"/>
                </a:solidFill>
                <a:latin typeface="Calibri"/>
              </a:rPr>
              <a:t>ne demandera de toucher ni au portail, ni aux laboratoires.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